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PPT 1: Target Audience</a:t>
            </a:r>
          </a:p>
          <a:p/>
          <a:p>
            <a:r>
              <a:t>PRIMARY TARGET AUDIENCE ANALYSIS:</a:t>
            </a:r>
          </a:p>
          <a:p>
            <a:r>
              <a:t>• Tech Enthusiasts &amp; PC Gamers (Ages 18-35): This segment actively seeks performance upgrades and is receptive to premium computing products. They follow tech news and influencers.</a:t>
            </a:r>
          </a:p>
          <a:p>
            <a:r>
              <a:t>• Content Creators &amp; Professionals: Video editors, streamers, graphic designers who need powerful computing for creative work. They understand the value of processing power.</a:t>
            </a:r>
          </a:p>
          <a:p>
            <a:r>
              <a:t>• Couples &amp; Gift-Givers: Looking for meaningful, premium tech gifts for Valentine's Day. Tech gifts ranked among top expensive gift categories in 2025.</a:t>
            </a:r>
          </a:p>
          <a:p/>
          <a:p>
            <a:r>
              <a:t>DEMOGRAPHIC PROFILE:</a:t>
            </a:r>
          </a:p>
          <a:p>
            <a:r>
              <a:t>• Geographic Distribution: United States (primary), with secondary focus on global markets</a:t>
            </a:r>
          </a:p>
          <a:p>
            <a:r>
              <a:t>• Income Level: Middle to upper-middle class ($60K-$150K household income) - can afford premium tech</a:t>
            </a:r>
          </a:p>
          <a:p>
            <a:r>
              <a:t>• Education: College-educated, tech-savvy consumers who research before purchasing</a:t>
            </a:r>
          </a:p>
          <a:p>
            <a:r>
              <a:t>• Psychographics: Value innovation, performance, and quality over price; early technology adopters</a:t>
            </a:r>
          </a:p>
          <a:p/>
          <a:p>
            <a:r>
              <a:t>KEY MARKET INSIGHT:</a:t>
            </a:r>
          </a:p>
          <a:p>
            <a:r>
              <a:t>According to the National Retail Federation's 2025 Valentine's Day Survey, 32% of consumers plan to purchase gifts for friends - the highest in survey history. This represents an opportunity to position Intel products as thoughtful gifts beyond just romantic partners.</a:t>
            </a:r>
          </a:p>
          <a:p/>
          <a:p>
            <a:r>
              <a:t>Additionally, younger consumers (aged 18-24) are leading the trend of friend-gifting, which aligns well with our tech enthusiast target demographic.</a:t>
            </a:r>
          </a:p>
          <a:p/>
          <a:p>
            <a:r>
              <a:t>CITATION: National Retail Federation &amp; Prosper Insights &amp; Analytics, Valentine's Day Consumer Survey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PPT 2: Advertising Objectives</a:t>
            </a:r>
          </a:p>
          <a:p/>
          <a:p>
            <a:r>
              <a:t>PRIMARY OBJECTIVES (Quantifiable &amp; Time-Bound):</a:t>
            </a:r>
          </a:p>
          <a:p/>
          <a:p>
            <a:r>
              <a:t>1. AWARENESS: Increase Intel Core Ultra Series 3 brand awareness by 15% during Valentine's season (Feb 1-14, 2026)</a:t>
            </a:r>
          </a:p>
          <a:p>
            <a:r>
              <a:t>   - Measured via: Brand lift surveys, search volume tracking, social mentions</a:t>
            </a:r>
          </a:p>
          <a:p/>
          <a:p>
            <a:r>
              <a:t>2. TRAFFIC: Drive 20% increase in website traffic to Intel gift guide landing page</a:t>
            </a:r>
          </a:p>
          <a:p>
            <a:r>
              <a:t>   - Measured via: Google Analytics, UTM tracking by campaign source</a:t>
            </a:r>
          </a:p>
          <a:p/>
          <a:p>
            <a:r>
              <a:t>3. LEAD GENERATION: Generate 10,000+ qualified leads through Valentine's promotional offers</a:t>
            </a:r>
          </a:p>
          <a:p>
            <a:r>
              <a:t>   - Measured via: Form submissions, email sign-ups, contest entries</a:t>
            </a:r>
          </a:p>
          <a:p/>
          <a:p>
            <a:r>
              <a:t>4. CONVERSION: Achieve 5% conversion rate on "Gift of Performance" bundle promotions</a:t>
            </a:r>
          </a:p>
          <a:p>
            <a:r>
              <a:t>   - Measured via: E-commerce tracking, partner retailer sales data</a:t>
            </a:r>
          </a:p>
          <a:p/>
          <a:p>
            <a:r>
              <a:t>SECONDARY OBJECTIVES:</a:t>
            </a:r>
          </a:p>
          <a:p/>
          <a:p>
            <a:r>
              <a:t>1. BRAND POSITIONING: Strengthen Intel's position as a premium gift option for tech lovers</a:t>
            </a:r>
          </a:p>
          <a:p>
            <a:r>
              <a:t>   - Differentiate from commodity gift items</a:t>
            </a:r>
          </a:p>
          <a:p/>
          <a:p>
            <a:r>
              <a:t>2. SOCIAL ENGAGEMENT: Increase social media engagement by 25% with Valentine's-themed content</a:t>
            </a:r>
          </a:p>
          <a:p>
            <a:r>
              <a:t>   - Likes, shares, comments, saves across Instagram, TikTok, YouTube</a:t>
            </a:r>
          </a:p>
          <a:p/>
          <a:p>
            <a:r>
              <a:t>3. DATABASE GROWTH: Build email subscriber list by 8,000+ new sign-ups through giveaway campaigns</a:t>
            </a:r>
          </a:p>
          <a:p>
            <a:r>
              <a:t>   - Long-term value for future marketing efforts</a:t>
            </a:r>
          </a:p>
          <a:p/>
          <a:p>
            <a:r>
              <a:t>KEY PERFORMANCE INDICATORS (KPIs) TO TRACK:</a:t>
            </a:r>
          </a:p>
          <a:p>
            <a:r>
              <a:t>• Impressions &amp; Reach</a:t>
            </a:r>
          </a:p>
          <a:p>
            <a:r>
              <a:t>• Click-Through Rate (CTR)</a:t>
            </a:r>
          </a:p>
          <a:p>
            <a:r>
              <a:t>• Conversion Rate</a:t>
            </a:r>
          </a:p>
          <a:p>
            <a:r>
              <a:t>• Return on Ad Spend (ROAS)</a:t>
            </a:r>
          </a:p>
          <a:p>
            <a:r>
              <a:t>• Social Engagement Rate</a:t>
            </a:r>
          </a:p>
          <a:p>
            <a:r>
              <a:t>• Lead Quality Score</a:t>
            </a:r>
          </a:p>
          <a:p>
            <a:r>
              <a:t>• Cost Per Acquisition (CPA)</a:t>
            </a:r>
          </a:p>
          <a:p/>
          <a:p>
            <a:r>
              <a:t>RATIONALE: Objectives are SMART (Specific, Measurable, Achievable, Relevant, Time-bound) to ensure campaign success can be accurately evaluated.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PPT 3: Advertising Platform</a:t>
            </a:r>
          </a:p>
          <a:p/>
          <a:p>
            <a:r>
              <a:t>UNIQUE SELLING PROPOSITION (USP):</a:t>
            </a:r>
          </a:p>
          <a:p>
            <a:r>
              <a:t>"Give the Gift of Performance" — Intel Core Ultra Series 3 for those you love</a:t>
            </a:r>
          </a:p>
          <a:p/>
          <a:p>
            <a:r>
              <a:t>This USP positions Intel processors as a meaningful, premium gift that demonstrates investment in the recipient's passions and productivity - unlike generic Valentine's gifts.</a:t>
            </a:r>
          </a:p>
          <a:p/>
          <a:p>
            <a:r>
              <a:t>KEY SELLING POINTS (Features to Highlight):</a:t>
            </a:r>
          </a:p>
          <a:p/>
          <a:p>
            <a:r>
              <a:t>1. UNMATCHED AI PERFORMANCE</a:t>
            </a:r>
          </a:p>
          <a:p>
            <a:r>
              <a:t>   - Built-in Neural Processing Unit (NPU) for next-gen AI features</a:t>
            </a:r>
          </a:p>
          <a:p>
            <a:r>
              <a:t>   - Perfect for users curious about AI tools and applications</a:t>
            </a:r>
          </a:p>
          <a:p>
            <a:r>
              <a:t>   - Future-ready for emerging AI-powered software</a:t>
            </a:r>
          </a:p>
          <a:p/>
          <a:p>
            <a:r>
              <a:t>2. CREATOR-READY</a:t>
            </a:r>
          </a:p>
          <a:p>
            <a:r>
              <a:t>   - Ideal for content creators who deserve the best tools</a:t>
            </a:r>
          </a:p>
          <a:p>
            <a:r>
              <a:t>   - Video editing, streaming, graphic design, music production</a:t>
            </a:r>
          </a:p>
          <a:p>
            <a:r>
              <a:t>   - "Give your creative partner the power to bring their vision to life"</a:t>
            </a:r>
          </a:p>
          <a:p/>
          <a:p>
            <a:r>
              <a:t>3. FUTURE-PROOF INVESTMENT</a:t>
            </a:r>
          </a:p>
          <a:p>
            <a:r>
              <a:t>   - Long-term value vs. disposable Valentine's gifts (flowers die, chocolate gets eaten)</a:t>
            </a:r>
          </a:p>
          <a:p>
            <a:r>
              <a:t>   - Technology that grows with the user</a:t>
            </a:r>
          </a:p>
          <a:p>
            <a:r>
              <a:t>   - Message: "I invested in you and your future"</a:t>
            </a:r>
          </a:p>
          <a:p/>
          <a:p>
            <a:r>
              <a:t>4. EXCLUSIVE VALENTINE'S BUNDLES</a:t>
            </a:r>
          </a:p>
          <a:p>
            <a:r>
              <a:t>   - Limited-edition packaging with Valentine's theme</a:t>
            </a:r>
          </a:p>
          <a:p>
            <a:r>
              <a:t>   - Bonus accessories (branded peripherals, gift cards)</a:t>
            </a:r>
          </a:p>
          <a:p>
            <a:r>
              <a:t>   - Creates urgency and exclusivity</a:t>
            </a:r>
          </a:p>
          <a:p/>
          <a:p>
            <a:r>
              <a:t>COMPETITIVE ADVANTAGE:</a:t>
            </a:r>
          </a:p>
          <a:p>
            <a:r>
              <a:t>Unlike AMD and other competitors, Intel offers integrated AI acceleration in the Core Ultra Series 3. This is perfect for the AI-curious loved one who wants to explore the latest technology.</a:t>
            </a:r>
          </a:p>
          <a:p/>
          <a:p>
            <a:r>
              <a:t>ADVERTISING PLATFORM STRATEGY:</a:t>
            </a:r>
          </a:p>
          <a:p>
            <a:r>
              <a:t>Focus messaging on emotional benefits (showing love through quality) combined with rational benefits (performance specs, AI features). This dual approach appeals to both gift-givers and recipients.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PPT 4: Advertising Appropriation</a:t>
            </a:r>
          </a:p>
          <a:p/>
          <a:p>
            <a:r>
              <a:t>TOTAL CAMPAIGN BUDGET: $2.5 Million</a:t>
            </a:r>
          </a:p>
          <a:p/>
          <a:p>
            <a:r>
              <a:t>BUDGET ALLOCATION BY CHANNEL:</a:t>
            </a:r>
          </a:p>
          <a:p/>
          <a:p>
            <a:r>
              <a:t>1. DIGITAL ADVERTISING (Social + Display): $1,125,000 (45%)</a:t>
            </a:r>
          </a:p>
          <a:p>
            <a:r>
              <a:t>   - Aligns with industry trend: Digital accounts for 75.2% of global ad spend in 2025</a:t>
            </a:r>
          </a:p>
          <a:p>
            <a:r>
              <a:t>   - Platforms: Instagram, TikTok, YouTube, programmatic display</a:t>
            </a:r>
          </a:p>
          <a:p>
            <a:r>
              <a:t>   - Rationale: Online is the #1 Valentine's shopping channel at 38%</a:t>
            </a:r>
          </a:p>
          <a:p/>
          <a:p>
            <a:r>
              <a:t>2. INFLUENCER MARKETING: $500,000 (20%)</a:t>
            </a:r>
          </a:p>
          <a:p>
            <a:r>
              <a:t>   - Tech YouTubers, gaming streamers, creator community</a:t>
            </a:r>
          </a:p>
          <a:p>
            <a:r>
              <a:t>   - Rationale: Influencer marketing delivers $5.78 ROI per $1 spent</a:t>
            </a:r>
          </a:p>
          <a:p>
            <a:r>
              <a:t>   - Focus on authentic product integration and gift recommendations</a:t>
            </a:r>
          </a:p>
          <a:p/>
          <a:p>
            <a:r>
              <a:t>3. SEARCH/RETAIL MEDIA: $375,000 (15%)</a:t>
            </a:r>
          </a:p>
          <a:p>
            <a:r>
              <a:t>   - Google Shopping, Amazon Sponsored Products, Best Buy placement</a:t>
            </a:r>
          </a:p>
          <a:p>
            <a:r>
              <a:t>   - Rationale: Retail media growing 14% YoY; captures high-intent shoppers</a:t>
            </a:r>
          </a:p>
          <a:p>
            <a:r>
              <a:t>   - Target gift-related search queries</a:t>
            </a:r>
          </a:p>
          <a:p/>
          <a:p>
            <a:r>
              <a:t>4. EMAIL MARKETING: $250,000 (10%)</a:t>
            </a:r>
          </a:p>
          <a:p>
            <a:r>
              <a:t>   - Targeted campaigns to existing Intel customer database</a:t>
            </a:r>
          </a:p>
          <a:p>
            <a:r>
              <a:t>   - Rationale: Email delivers highest ROI at $42 for every $1 spent</a:t>
            </a:r>
          </a:p>
          <a:p>
            <a:r>
              <a:t>   - Personalized gift recommendations and exclusive offers</a:t>
            </a:r>
          </a:p>
          <a:p/>
          <a:p>
            <a:r>
              <a:t>5. TRADITIONAL/OOH: $250,000 (10%)</a:t>
            </a:r>
          </a:p>
          <a:p>
            <a:r>
              <a:t>   - Strategic placements in tech hubs (Silicon Valley, Austin, Seattle)</a:t>
            </a:r>
          </a:p>
          <a:p>
            <a:r>
              <a:t>   - Digital billboards near retail partners</a:t>
            </a:r>
          </a:p>
          <a:p>
            <a:r>
              <a:t>   - Provides brand visibility and credibility</a:t>
            </a:r>
          </a:p>
          <a:p/>
          <a:p>
            <a:r>
              <a:t>RATIONALE BASED ON 2025 VALENTINE'S DATA:</a:t>
            </a:r>
          </a:p>
          <a:p/>
          <a:p>
            <a:r>
              <a:t>• Valentine's Day 2025 spending hit a record $27.5 billion, up from $25.8 billion in 2024 (Source: National Retail Federation)</a:t>
            </a:r>
          </a:p>
          <a:p>
            <a:r>
              <a:t>• Average consumer spent $188.81 per person (Source: NRF/Prosper Insights)</a:t>
            </a:r>
          </a:p>
          <a:p>
            <a:r>
              <a:t>• Jewelry, evening out, and premium gifts led spending categories - tech fits this premium positioning</a:t>
            </a:r>
          </a:p>
          <a:p>
            <a:r>
              <a:t>• 38% of shoppers chose online as primary shopping channel (Source: NRF)</a:t>
            </a:r>
          </a:p>
          <a:p/>
          <a:p>
            <a:r>
              <a:t>INDUSTRY BENCHMARK:</a:t>
            </a:r>
          </a:p>
          <a:p>
            <a:r>
              <a:t>According to Gartner's 2025 CMO Spend Survey, marketing budgets represent 7.7% of company revenue on average. Tech companies typically allocate 5-12% of revenue to marketing.</a:t>
            </a:r>
          </a:p>
          <a:p/>
          <a:p>
            <a:r>
              <a:t>CITATIONS:</a:t>
            </a:r>
          </a:p>
          <a:p>
            <a:r>
              <a:t>- National Retail Federation, Valentine's Day Spending Survey 2025</a:t>
            </a:r>
          </a:p>
          <a:p>
            <a:r>
              <a:t>- Gartner CMO Spend Survey 2025</a:t>
            </a:r>
          </a:p>
          <a:p>
            <a:r>
              <a:t>- Prosper Insights &amp; Analytics Consumer Survey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PPT 5: Media Plan</a:t>
            </a:r>
          </a:p>
          <a:p/>
          <a:p>
            <a:r>
              <a:t>MEDIA SELECTION STRATEGY:</a:t>
            </a:r>
          </a:p>
          <a:p/>
          <a:p>
            <a:r>
              <a:t>1. SOCIAL MEDIA PLATFORMS</a:t>
            </a:r>
          </a:p>
          <a:p>
            <a:r>
              <a:t>   - Instagram: Visual gift inspiration, Stories, Reels</a:t>
            </a:r>
          </a:p>
          <a:p>
            <a:r>
              <a:t>   - TikTok: Short-form creative content, influencer partnerships</a:t>
            </a:r>
          </a:p>
          <a:p>
            <a:r>
              <a:t>   - YouTube: Product reviews, unboxing videos, pre-roll ads</a:t>
            </a:r>
          </a:p>
          <a:p>
            <a:r>
              <a:t>   - Rationale: 38% of Valentine's Day shoppers use online channels (NRF 2025)</a:t>
            </a:r>
          </a:p>
          <a:p/>
          <a:p>
            <a:r>
              <a:t>2. PROGRAMMATIC DISPLAY</a:t>
            </a:r>
          </a:p>
          <a:p>
            <a:r>
              <a:t>   - Tech publications: Tom's Hardware, The Verge, CNET, Engadget</a:t>
            </a:r>
          </a:p>
          <a:p>
            <a:r>
              <a:t>   - Contextually relevant placements reaching tech enthusiasts</a:t>
            </a:r>
          </a:p>
          <a:p>
            <a:r>
              <a:t>   - Retargeting campaigns for website visitors</a:t>
            </a:r>
          </a:p>
          <a:p/>
          <a:p>
            <a:r>
              <a:t>3. RETAIL MEDIA NETWORKS</a:t>
            </a:r>
          </a:p>
          <a:p>
            <a:r>
              <a:t>   - Amazon Sponsored Products and Display</a:t>
            </a:r>
          </a:p>
          <a:p>
            <a:r>
              <a:t>   - Best Buy on-site advertising</a:t>
            </a:r>
          </a:p>
          <a:p>
            <a:r>
              <a:t>   - Newegg featured placements</a:t>
            </a:r>
          </a:p>
          <a:p>
            <a:r>
              <a:t>   - Rationale: Retail media impressions increased 25% YoY in 2025</a:t>
            </a:r>
          </a:p>
          <a:p/>
          <a:p>
            <a:r>
              <a:t>4. EMAIL MARKETING</a:t>
            </a:r>
          </a:p>
          <a:p>
            <a:r>
              <a:t>   - Targeted campaigns to existing Intel customer database</a:t>
            </a:r>
          </a:p>
          <a:p>
            <a:r>
              <a:t>   - Segmented messaging based on purchase history</a:t>
            </a:r>
          </a:p>
          <a:p>
            <a:r>
              <a:t>   - Progressive disclosure: Teaser → Reveal → Urgency</a:t>
            </a:r>
          </a:p>
          <a:p/>
          <a:p>
            <a:r>
              <a:t>MEDIA SCHEDULE (Campaign Timeline):</a:t>
            </a:r>
          </a:p>
          <a:p/>
          <a:p>
            <a:r>
              <a:t>PHASE 1: TEASER (January 20 - February 1)</a:t>
            </a:r>
          </a:p>
          <a:p>
            <a:r>
              <a:t>- Message: "What does your loved one really want?"</a:t>
            </a:r>
          </a:p>
          <a:p>
            <a:r>
              <a:t>- Build anticipation and curiosity</a:t>
            </a:r>
          </a:p>
          <a:p>
            <a:r>
              <a:t>- Social teasers, email preview campaigns</a:t>
            </a:r>
          </a:p>
          <a:p/>
          <a:p>
            <a:r>
              <a:t>PHASE 2: FULL LAUNCH (February 1 - February 10)</a:t>
            </a:r>
          </a:p>
          <a:p>
            <a:r>
              <a:t>- Heavy rotation across all channels</a:t>
            </a:r>
          </a:p>
          <a:p>
            <a:r>
              <a:t>- Full creative reveal with Valentine's bundles</a:t>
            </a:r>
          </a:p>
          <a:p>
            <a:r>
              <a:t>- Influencer content goes live</a:t>
            </a:r>
          </a:p>
          <a:p>
            <a:r>
              <a:t>- Maximum reach and frequency</a:t>
            </a:r>
          </a:p>
          <a:p/>
          <a:p>
            <a:r>
              <a:t>PHASE 3: URGENCY PUSH (February 10 - February 14)</a:t>
            </a:r>
          </a:p>
          <a:p>
            <a:r>
              <a:t>- "Last chance" messaging</a:t>
            </a:r>
          </a:p>
          <a:p>
            <a:r>
              <a:t>- Emphasize same-day/next-day delivery options</a:t>
            </a:r>
          </a:p>
          <a:p>
            <a:r>
              <a:t>- Countdown timers in ads</a:t>
            </a:r>
          </a:p>
          <a:p>
            <a:r>
              <a:t>- Retargeting non-converters</a:t>
            </a:r>
          </a:p>
          <a:p/>
          <a:p>
            <a:r>
              <a:t>PHASE 4: POST-VALENTINE'S (February 15 - February 21)</a:t>
            </a:r>
          </a:p>
          <a:p>
            <a:r>
              <a:t>- "Treat Yourself" self-gifting campaign</a:t>
            </a:r>
          </a:p>
          <a:p>
            <a:r>
              <a:t>- Target those who didn't receive gifts</a:t>
            </a:r>
          </a:p>
          <a:p>
            <a:r>
              <a:t>- Clearance on Valentine's bundles</a:t>
            </a:r>
          </a:p>
          <a:p>
            <a:r>
              <a:t>- Capture extended demand</a:t>
            </a:r>
          </a:p>
          <a:p/>
          <a:p>
            <a:r>
              <a:t>KEY METRICS TO TRACK BY CHANNEL:</a:t>
            </a:r>
          </a:p>
          <a:p>
            <a:r>
              <a:t>• Reach &amp; Frequency</a:t>
            </a:r>
          </a:p>
          <a:p>
            <a:r>
              <a:t>• Cost Per Mille (CPM)</a:t>
            </a:r>
          </a:p>
          <a:p>
            <a:r>
              <a:t>• Cost Per Click (CPC)</a:t>
            </a:r>
          </a:p>
          <a:p>
            <a:r>
              <a:t>• Click-Through Rate (CTR)</a:t>
            </a:r>
          </a:p>
          <a:p>
            <a:r>
              <a:t>• Conversion Rate</a:t>
            </a:r>
          </a:p>
          <a:p>
            <a:r>
              <a:t>• Return on Ad Spend (ROAS)</a:t>
            </a:r>
          </a:p>
          <a:p>
            <a:r>
              <a:t>• Attribution by channel</a:t>
            </a:r>
          </a:p>
          <a:p/>
          <a:p>
            <a:r>
              <a:t>CITATIONS:</a:t>
            </a:r>
          </a:p>
          <a:p>
            <a:r>
              <a:t>- National Retail Federation, Valentine's Day Consumer Survey 2025</a:t>
            </a:r>
          </a:p>
          <a:p>
            <a:r>
              <a:t>- Sensor Tower, State of Digital Advertising 2025</a:t>
            </a:r>
          </a:p>
          <a:p>
            <a:r>
              <a:t>- Digital Commerce 360, Valentine's Day E-commerce Report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PPT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Identify and Analyze the Target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600"/>
              </a:spcAft>
              <a:defRPr sz="2200" b="1">
                <a:solidFill>
                  <a:srgbClr val="0068B5"/>
                </a:solidFill>
              </a:defRPr>
            </a:pPr>
            <a:r>
              <a:t>Primary Audience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Tech Enthusiasts &amp; PC Gamers (Ages 18-35)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Content Creators &amp; Professionals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Gift-Givers seeking premium tech gifts</a:t>
            </a:r>
          </a:p>
          <a:p>
            <a:pPr>
              <a:spcAft>
                <a:spcPts val="600"/>
              </a:spcAft>
              <a:defRPr sz="1000"/>
            </a:pPr>
          </a:p>
          <a:p>
            <a:pPr>
              <a:spcBef>
                <a:spcPts val="1600"/>
              </a:spcBef>
              <a:spcAft>
                <a:spcPts val="600"/>
              </a:spcAft>
              <a:defRPr sz="2200" b="1">
                <a:solidFill>
                  <a:srgbClr val="0068B5"/>
                </a:solidFill>
              </a:defRPr>
            </a:pPr>
            <a:r>
              <a:t>Demographics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Geographic: United States primary market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Income: $60K-$150K household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Psychographics: Early adopters, value innovation</a:t>
            </a:r>
          </a:p>
          <a:p>
            <a:pPr>
              <a:spcAft>
                <a:spcPts val="600"/>
              </a:spcAft>
              <a:defRPr sz="1000"/>
            </a:pPr>
          </a:p>
          <a:p>
            <a:pPr>
              <a:spcAft>
                <a:spcPts val="600"/>
              </a:spcAft>
              <a:defRPr sz="1400" i="1">
                <a:solidFill>
                  <a:srgbClr val="787878"/>
                </a:solidFill>
              </a:defRPr>
            </a:pPr>
            <a:r>
              <a:t>Source: NRF Valentine's Day Survey 2025; 32% plan to buy gifts for friends</a:t>
            </a:r>
          </a:p>
        </p:txBody>
      </p:sp>
      <p:sp>
        <p:nvSpPr>
          <p:cNvPr id="6" name="Heart 5"/>
          <p:cNvSpPr/>
          <p:nvPr/>
        </p:nvSpPr>
        <p:spPr>
          <a:xfrm>
            <a:off x="11247120" y="5943600"/>
            <a:ext cx="640080" cy="640080"/>
          </a:xfrm>
          <a:prstGeom prst="hear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PPT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Define the Advertising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600"/>
              </a:spcAft>
              <a:defRPr sz="2200" b="1">
                <a:solidFill>
                  <a:srgbClr val="0068B5"/>
                </a:solidFill>
              </a:defRPr>
            </a:pPr>
            <a:r>
              <a:t>Primary Objectives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Increase Core Ultra Series 3 awareness by 15%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Drive 20% increase in gift guide landing page traffic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Generate 10,000+ qualified leads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Achieve 5% conversion on Valentine's bundles</a:t>
            </a:r>
          </a:p>
          <a:p>
            <a:pPr>
              <a:spcAft>
                <a:spcPts val="600"/>
              </a:spcAft>
              <a:defRPr sz="1000"/>
            </a:pPr>
          </a:p>
          <a:p>
            <a:pPr>
              <a:spcBef>
                <a:spcPts val="1600"/>
              </a:spcBef>
              <a:spcAft>
                <a:spcPts val="600"/>
              </a:spcAft>
              <a:defRPr sz="2200" b="1">
                <a:solidFill>
                  <a:srgbClr val="0068B5"/>
                </a:solidFill>
              </a:defRPr>
            </a:pPr>
            <a:r>
              <a:t>Secondary Objectives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25% increase in social media engagement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8,000+ new email subscribers</a:t>
            </a:r>
          </a:p>
          <a:p>
            <a:pPr>
              <a:spcAft>
                <a:spcPts val="600"/>
              </a:spcAft>
              <a:defRPr sz="1000"/>
            </a:pPr>
          </a:p>
          <a:p>
            <a:pPr>
              <a:spcAft>
                <a:spcPts val="600"/>
              </a:spcAft>
              <a:defRPr sz="1400" i="1">
                <a:solidFill>
                  <a:srgbClr val="787878"/>
                </a:solidFill>
              </a:defRPr>
            </a:pPr>
            <a:r>
              <a:t>Timeframe: February 1-14, 2026</a:t>
            </a:r>
          </a:p>
        </p:txBody>
      </p:sp>
      <p:sp>
        <p:nvSpPr>
          <p:cNvPr id="6" name="Heart 5"/>
          <p:cNvSpPr/>
          <p:nvPr/>
        </p:nvSpPr>
        <p:spPr>
          <a:xfrm>
            <a:off x="11247120" y="5943600"/>
            <a:ext cx="640080" cy="640080"/>
          </a:xfrm>
          <a:prstGeom prst="hear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PPT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Create the Advertising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600"/>
              </a:spcAft>
              <a:defRPr sz="2200" b="1">
                <a:solidFill>
                  <a:srgbClr val="0068B5"/>
                </a:solidFill>
              </a:defRPr>
            </a:pPr>
            <a:r>
              <a:t>Unique Selling Proposition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"Give the Gift of Performance"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Intel Core Ultra Series 3 for those you love</a:t>
            </a:r>
          </a:p>
          <a:p>
            <a:pPr>
              <a:spcAft>
                <a:spcPts val="600"/>
              </a:spcAft>
              <a:defRPr sz="1000"/>
            </a:pPr>
          </a:p>
          <a:p>
            <a:pPr>
              <a:spcBef>
                <a:spcPts val="1600"/>
              </a:spcBef>
              <a:spcAft>
                <a:spcPts val="600"/>
              </a:spcAft>
              <a:defRPr sz="2200" b="1">
                <a:solidFill>
                  <a:srgbClr val="0068B5"/>
                </a:solidFill>
              </a:defRPr>
            </a:pPr>
            <a:r>
              <a:t>Key Selling Points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AI-Powered Processing (Built-in NPU)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Creator-Ready Performance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Future-Proof Investment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Exclusive Valentine's Bundles</a:t>
            </a:r>
          </a:p>
          <a:p>
            <a:pPr>
              <a:spcAft>
                <a:spcPts val="600"/>
              </a:spcAft>
              <a:defRPr sz="1000"/>
            </a:pPr>
          </a:p>
          <a:p>
            <a:pPr>
              <a:spcAft>
                <a:spcPts val="600"/>
              </a:spcAft>
              <a:defRPr sz="1400" i="1">
                <a:solidFill>
                  <a:srgbClr val="787878"/>
                </a:solidFill>
              </a:defRPr>
            </a:pPr>
            <a:r>
              <a:t>Differentiator: Integrated AI acceleration vs. competitors</a:t>
            </a:r>
          </a:p>
        </p:txBody>
      </p:sp>
      <p:sp>
        <p:nvSpPr>
          <p:cNvPr id="6" name="Heart 5"/>
          <p:cNvSpPr/>
          <p:nvPr/>
        </p:nvSpPr>
        <p:spPr>
          <a:xfrm>
            <a:off x="11247120" y="5943600"/>
            <a:ext cx="640080" cy="640080"/>
          </a:xfrm>
          <a:prstGeom prst="hear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PPT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Determine the Advertising Appropriation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600"/>
              </a:spcAft>
              <a:defRPr sz="2200" b="1">
                <a:solidFill>
                  <a:srgbClr val="0068B5"/>
                </a:solidFill>
              </a:defRPr>
            </a:pPr>
            <a:r>
              <a:t>Total Budget: $2.5 Million</a:t>
            </a:r>
          </a:p>
          <a:p>
            <a:pPr>
              <a:spcAft>
                <a:spcPts val="600"/>
              </a:spcAft>
              <a:defRPr sz="1000"/>
            </a:pPr>
          </a:p>
          <a:p>
            <a:pPr>
              <a:spcBef>
                <a:spcPts val="1600"/>
              </a:spcBef>
              <a:spcAft>
                <a:spcPts val="600"/>
              </a:spcAft>
              <a:defRPr sz="2200" b="1">
                <a:solidFill>
                  <a:srgbClr val="0068B5"/>
                </a:solidFill>
              </a:defRPr>
            </a:pPr>
            <a:r>
              <a:t>Channel Allocation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Digital Advertising: $1,125,000 (45%)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Influencer Marketing: $500,000 (20%)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Search/Retail Media: $375,000 (15%)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Email Marketing: $250,000 (10%)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Traditional/OOH: $250,000 (10%)</a:t>
            </a:r>
          </a:p>
          <a:p>
            <a:pPr>
              <a:spcAft>
                <a:spcPts val="600"/>
              </a:spcAft>
              <a:defRPr sz="1000"/>
            </a:pPr>
          </a:p>
          <a:p>
            <a:pPr>
              <a:spcAft>
                <a:spcPts val="600"/>
              </a:spcAft>
              <a:defRPr sz="1400" i="1">
                <a:solidFill>
                  <a:srgbClr val="787878"/>
                </a:solidFill>
              </a:defRPr>
            </a:pPr>
            <a:r>
              <a:t>Based on 2025 Valentine's record spending of $27.5B (NRF)</a:t>
            </a:r>
          </a:p>
        </p:txBody>
      </p:sp>
      <p:sp>
        <p:nvSpPr>
          <p:cNvPr id="6" name="Heart 5"/>
          <p:cNvSpPr/>
          <p:nvPr/>
        </p:nvSpPr>
        <p:spPr>
          <a:xfrm>
            <a:off x="11247120" y="5943600"/>
            <a:ext cx="640080" cy="640080"/>
          </a:xfrm>
          <a:prstGeom prst="hear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PPT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Develop the Media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spcAft>
                <a:spcPts val="600"/>
              </a:spcAft>
              <a:defRPr sz="2200" b="1">
                <a:solidFill>
                  <a:srgbClr val="0068B5"/>
                </a:solidFill>
              </a:defRPr>
            </a:pPr>
            <a:r>
              <a:t>Media Selection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Social: Instagram, TikTok, YouTube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Display: Tech publications (Verge, CNET)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Retail: Amazon, Best Buy, Newegg</a:t>
            </a:r>
          </a:p>
          <a:p>
            <a:pPr>
              <a:spcAft>
                <a:spcPts val="600"/>
              </a:spcAft>
              <a:defRPr sz="1000"/>
            </a:pPr>
          </a:p>
          <a:p>
            <a:pPr>
              <a:spcBef>
                <a:spcPts val="1600"/>
              </a:spcBef>
              <a:spcAft>
                <a:spcPts val="600"/>
              </a:spcAft>
              <a:defRPr sz="2200" b="1">
                <a:solidFill>
                  <a:srgbClr val="0068B5"/>
                </a:solidFill>
              </a:defRPr>
            </a:pPr>
            <a:r>
              <a:t>Campaign Timeline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Phase 1 (Jan 20-Feb 1): Teaser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Phase 2 (Feb 1-10): Full Launch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Phase 3 (Feb 10-14): Urgency Push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Phase 4 (Feb 15-21): Self-Gifting</a:t>
            </a:r>
          </a:p>
          <a:p>
            <a:pPr>
              <a:spcAft>
                <a:spcPts val="600"/>
              </a:spcAft>
              <a:defRPr sz="1000"/>
            </a:pPr>
          </a:p>
          <a:p>
            <a:pPr>
              <a:spcAft>
                <a:spcPts val="600"/>
              </a:spcAft>
              <a:defRPr sz="1400" i="1">
                <a:solidFill>
                  <a:srgbClr val="787878"/>
                </a:solidFill>
              </a:defRPr>
            </a:pPr>
            <a:r>
              <a:t>38% of V-Day shoppers prefer online (NRF 2025)</a:t>
            </a:r>
          </a:p>
        </p:txBody>
      </p:sp>
      <p:sp>
        <p:nvSpPr>
          <p:cNvPr id="6" name="Heart 5"/>
          <p:cNvSpPr/>
          <p:nvPr/>
        </p:nvSpPr>
        <p:spPr>
          <a:xfrm>
            <a:off x="11247120" y="5943600"/>
            <a:ext cx="640080" cy="640080"/>
          </a:xfrm>
          <a:prstGeom prst="hear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
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we'll present Intel Corporation's non-store retailing strategy for the Core Ultra Series 3 processors. This assignment analyzes how Intel can leverage direct marketing channels to reach tech enthusiasts and professional content creators without relying on traditional brick-and-mortar retail stores. Our analysis is based on the non-store retailing lecture which covered direct selling, direct marketing, catalog marketing, direct response, telemarketing, television shopping, and vending machines.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Non-store retailing is selling that doesn't take place in a conventional store facility. This means consumers can purchase products without even going to a physical store location. This form of retailing accounts for a significant portion of total retail sales in today's market. The main types of non-store retailing include: 1) Direct Selling - face-to-face marketing like party plans (Mary Kay, Tupperware), 2) Direct Marketing - using telephone, internet, or non-personal media to communicate product information (catalog marketing, direct response, email), 3) Vending - automated machines. For Intel, direct marketing is the most relevant strategy given their B2B nature and tech-focused customer 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Intel's non-store retailing strategy focuses on Direct Marketing, which is the use of the internet, telephone, and other non-personal media to communicate product information to customers who can then purchase by mail, phone, or internet. We're combining four key channels:</a:t>
            </a:r>
          </a:p>
          <a:p/>
          <a:p>
            <a:r>
              <a:t>1. Online Catalog Marketing - Intel.com serves as a comprehensive digital catalog with detailed product specifications, AI performance benchmarks, and comparison tools. This allows tech enthusiasts to research the Core Ultra Series 3 capabilities at their own pace.</a:t>
            </a:r>
          </a:p>
          <a:p/>
          <a:p>
            <a:r>
              <a:t>2. E-Commerce Partnerships - Rather than building physical Intel stores, we leverage established e-commerce platforms like Amazon, Best Buy, and Newegg. These partners already have the infrastructure, customer base, and trust. We'll optimize our product listings with rich A+ content, detailed specs, and customer reviews.</a:t>
            </a:r>
          </a:p>
          <a:p/>
          <a:p>
            <a:r>
              <a:t>3. Direct Response Marketing - Email campaigns to Intel's existing customer database highlighting Core Ultra benefits. Social media advertising on platforms where tech enthusiasts congregate (Reddit, Twitter, YouTube). Retargeting campaigns to website visitors.</a:t>
            </a:r>
          </a:p>
          <a:p/>
          <a:p>
            <a:r>
              <a:t>4. Influencer Marketing - Partnering with trusted tech content creators like Linus Tech Tips, Marques Brownlee (MKBHD), and Dave2D for honest product reviews and benchmarks. This is a form of direct marketing because these creators directly communicate product benefits to their engaged audiences.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marketing is the optimal strategy for Intel Core Ultra Series 3 for several key reasons:</a:t>
            </a:r>
          </a:p>
          <a:p/>
          <a:p>
            <a:r>
              <a:t>1. REACHES TECH-SAVVY CONSUMERS WHERE THEY SHOP: Our target audience of tech enthusiasts, gamers, and content creators aged 25-40 earning $80K-$200K already prefer online research and purchasing. According to retail data, 38% of consumers now shop online first. These customers extensively research processor benchmarks, read reviews, and compare specifications before making a purchase decision. They're not walking into Best Buy blind - they're coming armed with knowledge gained online.</a:t>
            </a:r>
          </a:p>
          <a:p/>
          <a:p>
            <a:r>
              <a:t>2. COST-EFFECTIVE &amp; SCALABLE: Direct marketing eliminates the massive overhead costs of maintaining physical Intel retail stores. Instead, we leverage partner infrastructure (Amazon's fulfillment, Best Buy's logistics) while maintaining brand control through our digital presence. This allows us to scale globally without the capital expenditure of opening stores in every market. The money saved can be reinvested into R&amp;D and marketing campaigns.</a:t>
            </a:r>
          </a:p>
          <a:p/>
          <a:p>
            <a:r>
              <a:t>3. DATA-DRIVEN OPTIMIZATION: Digital channels provide real-time analytics. We can track which email subject lines get the best open rates, which YouTube influencer drives the most conversions, and which product features resonate most with our audience. This allows us to continuously optimize our campaigns and improve ROI. Traditional retail provides minimal customer behavior data in comparison.</a:t>
            </a:r>
          </a:p>
          <a:p/>
          <a:p>
            <a:r>
              <a:t>Additional advantages include: direct customer relationships through email lists, ability to retarget interested buyers, partnership leverage with established platforms, and 24/7 availability for global customers across time zones.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implementation strategy consists of four coordinated phases:</a:t>
            </a:r>
          </a:p>
          <a:p/>
          <a:p>
            <a:r>
              <a:t>PHASE 1: ENHANCED DIGITAL CATALOG (Intel.com)</a:t>
            </a:r>
          </a:p>
          <a:p>
            <a:r>
              <a:t>Create a comprehensive online catalog on Intel.com with detailed product specifications, real-time AI performance demonstrations, and interactive comparison tools. This serves as the authoritative source for Core Ultra Series 3 information. Include downloadable spec sheets, compatibility checkers, and "build your PC" configurators. Add customer testimonials and case studies from professional content creators using Core Ultra processors.</a:t>
            </a:r>
          </a:p>
          <a:p/>
          <a:p>
            <a:r>
              <a:t>PHASE 2: E-COMMERCE OPTIMIZATION</a:t>
            </a:r>
          </a:p>
          <a:p>
            <a:r>
              <a:t>Optimize our product listings across major e-commerce platforms. On Amazon, create A+ content pages with rich media, comparison charts, and lifestyle imagery. On Best Buy and Newegg, ensure our processors have prominent placement with detailed descriptions highlighting the 80+ TOPS NPU for AI workloads, 8K video editing capabilities, and professional-grade features. Work with these partners to secure featured placement during key shopping periods (Valentine's Day, back-to-school, Black Friday).</a:t>
            </a:r>
          </a:p>
          <a:p/>
          <a:p>
            <a:r>
              <a:t>PHASE 3: DIRECT RESPONSE CAMPAIGNS</a:t>
            </a:r>
          </a:p>
          <a:p>
            <a:r>
              <a:t>Launch targeted email marketing campaigns to Intel's existing customer database. Segment the list by user type: gamers get messaging about performance, content creators get messaging about AI video enhancement and 8K editing. Social media campaigns on Reddit (r/buildapc, r/intel), Twitter/X, and LinkedIn targeting tech professionals. Use retargeting pixels to follow up with website visitors who viewed Core Ultra pages but didn't convert.</a:t>
            </a:r>
          </a:p>
          <a:p/>
          <a:p>
            <a:r>
              <a:t>PHASE 4: INFLUENCER PARTNERSHIPS</a:t>
            </a:r>
          </a:p>
          <a:p>
            <a:r>
              <a:t>Partner with trusted tech content creators who have established credibility with our target audience. Send early units to Linus Tech Tips for benchmarking, to MKBHD for lifestyle/productivity reviews, to Dave2D for mobile workstation analysis. These influencers provide third-party validation that's more trusted than traditional advertising. Track affiliate links to measure which creators drive the most conversions. This is direct response marketing because these videos directly drive purchase decisions.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direct marketing strategy for Intel Core Ultra Series 3 targets the following measurable outcomes, aligned with the Valentine's Day campaign period (Feb 1-14, 2026):</a:t>
            </a:r>
          </a:p>
          <a:p/>
          <a:p>
            <a:r>
              <a:t>SALES GROWTH: 20% increase in Core Ultra Series 3 unit sales during the campaign period compared to baseline. This translates to approximately 10,000+ qualified leads with a target 5% conversion rate on Valentine's gift bundle promotions. The "Gift of Performance" bundles priced at $1,200-$1,800 position Core Ultra as a premium gift option for tech lovers.</a:t>
            </a:r>
          </a:p>
          <a:p/>
          <a:p>
            <a:r>
              <a:t>BRAND AWARENESS: 15% increase in unaided brand awareness of "Core Ultra" among our target demographic (tech enthusiasts, gamers, content creators aged 25-40). This will be measured through pre/post campaign surveys. We want "Core Ultra" to become synonymous with AI-powered performance, just like "Core i7" became synonymous with high performance in previous generations.</a:t>
            </a:r>
          </a:p>
          <a:p/>
          <a:p>
            <a:r>
              <a:t>LEAD GENERATION: Generate 10,000+ qualified leads through promotional offers, giveaways, and email capture forms. These leads will be scored based on engagement (email opens, website visits, video views) and demographic fit. High-quality leads will be nurtured through automated email sequences highlighting specific Core Ultra benefits relevant to their use case.</a:t>
            </a:r>
          </a:p>
          <a:p/>
          <a:p>
            <a:r>
              <a:t>EMAIL SUBSCRIBER GROWTH: Add 8,000+ new subscribers to Intel's email marketing database through Valentine's giveaway campaigns, early access programs, and gated content (e.g., "Download the Core Ultra AI Performance Guide"). These subscribers represent future customers for the upcoming Core Ultra X AI Creator Edition launching Q4 2026.</a:t>
            </a:r>
          </a:p>
          <a:p/>
          <a:p>
            <a:r>
              <a:t>PARTNERSHIP DEEPENING: Strengthen relationships with e-commerce retail partners by driving traffic and conversions to their platforms. Increased visibility on Amazon Best Sellers, Best Buy featured sections, and Newegg promotional banners. Better co-op advertising arrangements and featured placement in future campaigns.</a:t>
            </a:r>
          </a:p>
          <a:p/>
          <a:p>
            <a:r>
              <a:t>MEASURABLE KPIs: Website traffic (20% increase to Intel.com gift guide), click-through rates on email campaigns (target 3.5%+ CTR), social media engagement (25% increase in likes/shares/comments), influencer video views (target 5M+ combined views), and most importantly, Return on Ad Spend (target 4:1 ROAS meaning $4 revenue for every $1 spent).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a:t>
            </a:r>
          </a:p>
          <a:p/>
          <a:p>
            <a:r>
              <a:t>Direct Marketing represents the optimal non-store retailing strategy for Intel Core Ultra Series 3 processors based on our analysis of the lecture material and Intel's specific market position.</a:t>
            </a:r>
          </a:p>
          <a:p/>
          <a:p>
            <a:r>
              <a:t>WHY DIRECT MARKETING WORKS FOR INTEL:</a:t>
            </a:r>
          </a:p>
          <a:p/>
          <a:p>
            <a:r>
              <a:t>First, it aligns perfectly with our target customer behavior. Tech enthusiasts, PC gamers, and professional content creators aged 25-40 earning $80K-$200K don't impulse-buy processors at retail stores. They spend weeks researching benchmarks, reading reviews, watching YouTube comparisons, and participating in online forums before making a purchase decision. 38% of all shoppers now prefer online channels, and this percentage is even higher (60%+) among tech enthusiasts. Direct marketing meets them in their natural research and buying environment.</a:t>
            </a:r>
          </a:p>
          <a:p/>
          <a:p>
            <a:r>
              <a:t>Second, it's cost-effective and scalable. Intel doesn't need to invest capital in opening and maintaining physical retail stores globally. Instead, we leverage the existing infrastructure of established e-commerce platforms (Amazon's fulfillment network, Best Buy's retail presence, Newegg's tech-focused audience). The money saved on retail overhead can be reinvested into R&amp;D for future processor generations or into more effective digital marketing campaigns.</a:t>
            </a:r>
          </a:p>
          <a:p/>
          <a:p>
            <a:r>
              <a:t>Third, it's data-driven and measurable. Unlike traditional retail where you can't track which customer saw which display, digital marketing provides complete visibility. We know which email subject lines drive opens, which YouTube influencer drives conversions, which product features resonate most in A/B tests. This allows continuous optimization and demonstrates clear ROI to Intel management.</a:t>
            </a:r>
          </a:p>
          <a:p/>
          <a:p>
            <a:r>
              <a:t>Fourth, it leverages partner infrastructure while maintaining brand control. Intel doesn't sell directly to consumers - we sell through OEM partners (Dell, HP, Lenovo) and retailers. Direct marketing allows us to maintain our brand narrative, highlight Core Ultra's AI capabilities, and drive demand that pulls through our partner channels. When a customer searches Amazon for "best AI processor," we want Core Ultra to appear with rich content that explains our 80+ TOPS NPU advantage.</a:t>
            </a:r>
          </a:p>
          <a:p/>
          <a:p>
            <a:r>
              <a:t>COMPARISON TO OTHER NON-STORE RETAILING OPTIONS:</a:t>
            </a:r>
          </a:p>
          <a:p/>
          <a:p>
            <a:r>
              <a:t>We considered other non-store retailing methods from the lecture but rejected them:</a:t>
            </a:r>
          </a:p>
          <a:p>
            <a:r>
              <a:t>- Direct Selling (door-to-door, party plans): Doesn't fit Intel's B2B model or technical product complexity</a:t>
            </a:r>
          </a:p>
          <a:p>
            <a:r>
              <a:t>- Telemarketing: Negative customer perception, doesn't allow for detailed technical comparison</a:t>
            </a:r>
          </a:p>
          <a:p>
            <a:r>
              <a:t>- Television Shopping: Too expensive, audience too broad (not tech-focused enough)</a:t>
            </a:r>
          </a:p>
          <a:p>
            <a:r>
              <a:t>- Vending: Impossible for high-value technical products requiring research</a:t>
            </a:r>
          </a:p>
          <a:p/>
          <a:p>
            <a:r>
              <a:t>Direct Marketing, specifically the combination of catalog marketing (Intel.com), direct response (email/social), and e-commerce partnerships, is the only strategy that fits Intel's business model, customer behavior, and product complexity.</a:t>
            </a:r>
          </a:p>
          <a:p/>
          <a:p>
            <a:r>
              <a:t>ALIGNMENT WITH INTEL'S BROADER STRATEGY:</a:t>
            </a:r>
          </a:p>
          <a:p/>
          <a:p>
            <a:r>
              <a:t>This recommendation aligns with Intel's product roadmap. The Core Ultra Series 3 is in its Growth stage (launching 2026), with mainstream AI PC adoption expected through 2027-2028. Direct marketing allows us to educate the market about AI PC benefits, build the Core Ultra brand, and create demand that pulls through OEM partners. As we prepare to launch the Core Ultra X AI Creator Edition in Q4 2026 targeting the $12B creative professional market at $1,200-$1,800 price points, this direct marketing infrastructure will already be in place to reach professional content creators, video editors, and 3D animators who demand desktop-class AI performance.</a:t>
            </a:r>
          </a:p>
          <a:p/>
          <a:p>
            <a:r>
              <a:t>In conclusion, Direct Marketing through digital channels is not just a distribution strategy - it's a competitive advantage that allows Intel to educate, engage, and convert our target audience more effectively than traditional retail ever could.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743200"/>
          </a:xfrm>
          <a:prstGeom prst="rect">
            <a:avLst/>
          </a:prstGeom>
          <a:solidFill>
            <a:srgbClr val="00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1371600"/>
          </a:xfrm>
          <a:prstGeom prst="rect">
            <a:avLst/>
          </a:prstGeom>
          <a:noFill/>
        </p:spPr>
        <p:txBody>
          <a:bodyPr wrap="none">
            <a:spAutoFit/>
          </a:bodyPr>
          <a:lstStyle/>
          <a:p>
            <a:pPr algn="ctr">
              <a:defRPr sz="5400" b="1">
                <a:solidFill>
                  <a:srgbClr val="FFFFFF"/>
                </a:solidFill>
              </a:defRPr>
            </a:pPr>
            <a:r>
              <a:t>Non-Store Retailing Strategy</a:t>
            </a:r>
          </a:p>
        </p:txBody>
      </p:sp>
      <p:sp>
        <p:nvSpPr>
          <p:cNvPr id="4" name="TextBox 3"/>
          <p:cNvSpPr txBox="1"/>
          <p:nvPr/>
        </p:nvSpPr>
        <p:spPr>
          <a:xfrm>
            <a:off x="914400" y="3657600"/>
            <a:ext cx="7315200" cy="914400"/>
          </a:xfrm>
          <a:prstGeom prst="rect">
            <a:avLst/>
          </a:prstGeom>
          <a:noFill/>
        </p:spPr>
        <p:txBody>
          <a:bodyPr wrap="none">
            <a:spAutoFit/>
          </a:bodyPr>
          <a:lstStyle/>
          <a:p>
            <a:pPr algn="ctr">
              <a:defRPr sz="3600">
                <a:solidFill>
                  <a:srgbClr val="0068B5"/>
                </a:solidFill>
              </a:defRPr>
            </a:pPr>
            <a:r>
              <a:t>Intel Core Ultra Series 3</a:t>
            </a:r>
          </a:p>
        </p:txBody>
      </p:sp>
      <p:sp>
        <p:nvSpPr>
          <p:cNvPr id="5" name="TextBox 4"/>
          <p:cNvSpPr txBox="1"/>
          <p:nvPr/>
        </p:nvSpPr>
        <p:spPr>
          <a:xfrm>
            <a:off x="914400" y="5029200"/>
            <a:ext cx="7315200" cy="457200"/>
          </a:xfrm>
          <a:prstGeom prst="rect">
            <a:avLst/>
          </a:prstGeom>
          <a:noFill/>
        </p:spPr>
        <p:txBody>
          <a:bodyPr wrap="none">
            <a:spAutoFit/>
          </a:bodyPr>
          <a:lstStyle/>
          <a:p>
            <a:pPr algn="ctr">
              <a:defRPr sz="2400">
                <a:solidFill>
                  <a:srgbClr val="333333"/>
                </a:solidFill>
              </a:defRPr>
            </a:pPr>
            <a:r>
              <a:t>Intel Corporation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457200"/>
          </a:xfrm>
          <a:prstGeom prst="rect">
            <a:avLst/>
          </a:prstGeom>
          <a:noFill/>
        </p:spPr>
        <p:txBody>
          <a:bodyPr wrap="none">
            <a:spAutoFit/>
          </a:bodyPr>
          <a:lstStyle/>
          <a:p>
            <a:pPr>
              <a:defRPr sz="4000" b="1">
                <a:solidFill>
                  <a:srgbClr val="FFFFFF"/>
                </a:solidFill>
              </a:defRPr>
            </a:pPr>
            <a:r>
              <a:t>What is Non-Store Retailing?</a:t>
            </a:r>
          </a:p>
        </p:txBody>
      </p:sp>
      <p:sp>
        <p:nvSpPr>
          <p:cNvPr id="4" name="TextBox 3"/>
          <p:cNvSpPr txBox="1"/>
          <p:nvPr/>
        </p:nvSpPr>
        <p:spPr>
          <a:xfrm>
            <a:off x="914400" y="1828800"/>
            <a:ext cx="7315200" cy="1828800"/>
          </a:xfrm>
          <a:prstGeom prst="rect">
            <a:avLst/>
          </a:prstGeom>
          <a:noFill/>
        </p:spPr>
        <p:txBody>
          <a:bodyPr wrap="square">
            <a:spAutoFit/>
          </a:bodyPr>
          <a:lstStyle/>
          <a:p>
            <a:pPr algn="ctr">
              <a:defRPr sz="3200" b="1">
                <a:solidFill>
                  <a:srgbClr val="0068B5"/>
                </a:solidFill>
              </a:defRPr>
            </a:pPr>
            <a:r>
              <a:t>Selling that doesn't take place in a conventional store facility</a:t>
            </a:r>
          </a:p>
        </p:txBody>
      </p:sp>
      <p:sp>
        <p:nvSpPr>
          <p:cNvPr id="5" name="TextBox 4"/>
          <p:cNvSpPr txBox="1"/>
          <p:nvPr/>
        </p:nvSpPr>
        <p:spPr>
          <a:xfrm>
            <a:off x="1371600" y="4114800"/>
            <a:ext cx="6400800" cy="914400"/>
          </a:xfrm>
          <a:prstGeom prst="rect">
            <a:avLst/>
          </a:prstGeom>
          <a:noFill/>
        </p:spPr>
        <p:txBody>
          <a:bodyPr wrap="none">
            <a:spAutoFit/>
          </a:bodyPr>
          <a:lstStyle/>
          <a:p>
            <a:pPr algn="ctr">
              <a:defRPr sz="2400">
                <a:solidFill>
                  <a:srgbClr val="333333"/>
                </a:solidFill>
              </a:defRPr>
            </a:pPr>
            <a:r>
              <a:t>Consumers purchase products without visiting a physical store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457200"/>
          </a:xfrm>
          <a:prstGeom prst="rect">
            <a:avLst/>
          </a:prstGeom>
          <a:noFill/>
        </p:spPr>
        <p:txBody>
          <a:bodyPr wrap="none">
            <a:spAutoFit/>
          </a:bodyPr>
          <a:lstStyle/>
          <a:p>
            <a:pPr>
              <a:defRPr sz="4000" b="1">
                <a:solidFill>
                  <a:srgbClr val="FFFFFF"/>
                </a:solidFill>
              </a:defRPr>
            </a:pPr>
            <a:r>
              <a:t>Intel's Strategy: Direct Marketing</a:t>
            </a:r>
          </a:p>
        </p:txBody>
      </p:sp>
      <p:sp>
        <p:nvSpPr>
          <p:cNvPr id="4" name="TextBox 3"/>
          <p:cNvSpPr txBox="1"/>
          <p:nvPr/>
        </p:nvSpPr>
        <p:spPr>
          <a:xfrm>
            <a:off x="914400" y="1371600"/>
            <a:ext cx="7315200" cy="1371600"/>
          </a:xfrm>
          <a:prstGeom prst="rect">
            <a:avLst/>
          </a:prstGeom>
          <a:noFill/>
        </p:spPr>
        <p:txBody>
          <a:bodyPr wrap="square">
            <a:spAutoFit/>
          </a:bodyPr>
          <a:lstStyle/>
          <a:p>
            <a:pPr algn="ctr">
              <a:defRPr sz="3600" b="1">
                <a:solidFill>
                  <a:srgbClr val="0068B5"/>
                </a:solidFill>
              </a:defRPr>
            </a:pPr>
            <a:r>
              <a:t>Combining Multiple Direct Marketing Channels</a:t>
            </a:r>
          </a:p>
        </p:txBody>
      </p:sp>
      <p:sp>
        <p:nvSpPr>
          <p:cNvPr id="5" name="TextBox 4"/>
          <p:cNvSpPr txBox="1"/>
          <p:nvPr/>
        </p:nvSpPr>
        <p:spPr>
          <a:xfrm>
            <a:off x="1371600" y="3200400"/>
            <a:ext cx="6400800" cy="3200400"/>
          </a:xfrm>
          <a:prstGeom prst="rect">
            <a:avLst/>
          </a:prstGeom>
          <a:noFill/>
        </p:spPr>
        <p:txBody>
          <a:bodyPr wrap="square">
            <a:spAutoFit/>
          </a:bodyPr>
          <a:lstStyle/>
          <a:p>
            <a:pPr>
              <a:spcAft>
                <a:spcPts val="1600"/>
              </a:spcAft>
              <a:defRPr sz="2400">
                <a:solidFill>
                  <a:srgbClr val="333333"/>
                </a:solidFill>
              </a:defRPr>
            </a:pPr>
            <a:r>
              <a:t>• Online Catalog Marketing (Intel.com)</a:t>
            </a:r>
          </a:p>
          <a:p>
            <a:pPr>
              <a:spcAft>
                <a:spcPts val="1600"/>
              </a:spcAft>
              <a:defRPr sz="2400">
                <a:solidFill>
                  <a:srgbClr val="333333"/>
                </a:solidFill>
              </a:defRPr>
            </a:pPr>
            <a:r>
              <a:t>• E-Commerce Partnerships (Amazon, Best Buy, Newegg)</a:t>
            </a:r>
          </a:p>
          <a:p>
            <a:pPr>
              <a:spcAft>
                <a:spcPts val="1600"/>
              </a:spcAft>
              <a:defRPr sz="2400">
                <a:solidFill>
                  <a:srgbClr val="333333"/>
                </a:solidFill>
              </a:defRPr>
            </a:pPr>
            <a:r>
              <a:t>• Direct Response Marketing (Email &amp; Social Media)</a:t>
            </a:r>
          </a:p>
          <a:p>
            <a:pPr>
              <a:spcAft>
                <a:spcPts val="1600"/>
              </a:spcAft>
              <a:defRPr sz="2400">
                <a:solidFill>
                  <a:srgbClr val="333333"/>
                </a:solidFill>
              </a:defRPr>
            </a:pPr>
            <a:r>
              <a:t>• Influencer Marketing (Tech YouTubers)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457200"/>
          </a:xfrm>
          <a:prstGeom prst="rect">
            <a:avLst/>
          </a:prstGeom>
          <a:noFill/>
        </p:spPr>
        <p:txBody>
          <a:bodyPr wrap="none">
            <a:spAutoFit/>
          </a:bodyPr>
          <a:lstStyle/>
          <a:p>
            <a:pPr>
              <a:defRPr sz="4000" b="1">
                <a:solidFill>
                  <a:srgbClr val="FFFFFF"/>
                </a:solidFill>
              </a:defRPr>
            </a:pPr>
            <a:r>
              <a:t>Why Direct Marketing for Intel?</a:t>
            </a:r>
          </a:p>
        </p:txBody>
      </p:sp>
      <p:sp>
        <p:nvSpPr>
          <p:cNvPr id="4" name="Rectangle 3"/>
          <p:cNvSpPr/>
          <p:nvPr/>
        </p:nvSpPr>
        <p:spPr>
          <a:xfrm>
            <a:off x="1371600" y="1828800"/>
            <a:ext cx="6400800" cy="1097280"/>
          </a:xfrm>
          <a:prstGeom prst="rect">
            <a:avLst/>
          </a:prstGeom>
          <a:solidFill>
            <a:srgbClr val="F0F0F0"/>
          </a:solidFill>
          <a:ln w="25400">
            <a:solidFill>
              <a:srgbClr val="0068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920240"/>
            <a:ext cx="5486400" cy="457200"/>
          </a:xfrm>
          <a:prstGeom prst="rect">
            <a:avLst/>
          </a:prstGeom>
          <a:noFill/>
        </p:spPr>
        <p:txBody>
          <a:bodyPr wrap="none">
            <a:spAutoFit/>
          </a:bodyPr>
          <a:lstStyle/>
          <a:p>
            <a:pPr>
              <a:defRPr sz="2200" b="1">
                <a:solidFill>
                  <a:srgbClr val="0068B5"/>
                </a:solidFill>
              </a:defRPr>
            </a:pPr>
            <a:r>
              <a:t>Reaches Tech-Savvy Consumers</a:t>
            </a:r>
          </a:p>
        </p:txBody>
      </p:sp>
      <p:sp>
        <p:nvSpPr>
          <p:cNvPr id="6" name="TextBox 5"/>
          <p:cNvSpPr txBox="1"/>
          <p:nvPr/>
        </p:nvSpPr>
        <p:spPr>
          <a:xfrm>
            <a:off x="1828800" y="2377440"/>
            <a:ext cx="5486400" cy="365760"/>
          </a:xfrm>
          <a:prstGeom prst="rect">
            <a:avLst/>
          </a:prstGeom>
          <a:noFill/>
        </p:spPr>
        <p:txBody>
          <a:bodyPr wrap="none">
            <a:spAutoFit/>
          </a:bodyPr>
          <a:lstStyle/>
          <a:p>
            <a:pPr>
              <a:defRPr sz="1800">
                <a:solidFill>
                  <a:srgbClr val="333333"/>
                </a:solidFill>
              </a:defRPr>
            </a:pPr>
            <a:r>
              <a:t>38% of shoppers buy online</a:t>
            </a:r>
          </a:p>
        </p:txBody>
      </p:sp>
      <p:sp>
        <p:nvSpPr>
          <p:cNvPr id="7" name="Rectangle 6"/>
          <p:cNvSpPr/>
          <p:nvPr/>
        </p:nvSpPr>
        <p:spPr>
          <a:xfrm>
            <a:off x="1371600" y="3200400"/>
            <a:ext cx="6400800" cy="1097280"/>
          </a:xfrm>
          <a:prstGeom prst="rect">
            <a:avLst/>
          </a:prstGeom>
          <a:solidFill>
            <a:srgbClr val="F0F0F0"/>
          </a:solidFill>
          <a:ln w="25400">
            <a:solidFill>
              <a:srgbClr val="0068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291840"/>
            <a:ext cx="5486400" cy="457200"/>
          </a:xfrm>
          <a:prstGeom prst="rect">
            <a:avLst/>
          </a:prstGeom>
          <a:noFill/>
        </p:spPr>
        <p:txBody>
          <a:bodyPr wrap="none">
            <a:spAutoFit/>
          </a:bodyPr>
          <a:lstStyle/>
          <a:p>
            <a:pPr>
              <a:defRPr sz="2200" b="1">
                <a:solidFill>
                  <a:srgbClr val="0068B5"/>
                </a:solidFill>
              </a:defRPr>
            </a:pPr>
            <a:r>
              <a:t>Cost-Effective &amp; Scalable</a:t>
            </a:r>
          </a:p>
        </p:txBody>
      </p:sp>
      <p:sp>
        <p:nvSpPr>
          <p:cNvPr id="9" name="TextBox 8"/>
          <p:cNvSpPr txBox="1"/>
          <p:nvPr/>
        </p:nvSpPr>
        <p:spPr>
          <a:xfrm>
            <a:off x="1828800" y="3749039"/>
            <a:ext cx="5486400" cy="365760"/>
          </a:xfrm>
          <a:prstGeom prst="rect">
            <a:avLst/>
          </a:prstGeom>
          <a:noFill/>
        </p:spPr>
        <p:txBody>
          <a:bodyPr wrap="none">
            <a:spAutoFit/>
          </a:bodyPr>
          <a:lstStyle/>
          <a:p>
            <a:pPr>
              <a:defRPr sz="1800">
                <a:solidFill>
                  <a:srgbClr val="333333"/>
                </a:solidFill>
              </a:defRPr>
            </a:pPr>
            <a:r>
              <a:t>Global reach without retail overhead</a:t>
            </a:r>
          </a:p>
        </p:txBody>
      </p:sp>
      <p:sp>
        <p:nvSpPr>
          <p:cNvPr id="10" name="Rectangle 9"/>
          <p:cNvSpPr/>
          <p:nvPr/>
        </p:nvSpPr>
        <p:spPr>
          <a:xfrm>
            <a:off x="1371600" y="4572000"/>
            <a:ext cx="6400800" cy="1097280"/>
          </a:xfrm>
          <a:prstGeom prst="rect">
            <a:avLst/>
          </a:prstGeom>
          <a:solidFill>
            <a:srgbClr val="F0F0F0"/>
          </a:solidFill>
          <a:ln w="25400">
            <a:solidFill>
              <a:srgbClr val="0068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4663440"/>
            <a:ext cx="5486400" cy="457200"/>
          </a:xfrm>
          <a:prstGeom prst="rect">
            <a:avLst/>
          </a:prstGeom>
          <a:noFill/>
        </p:spPr>
        <p:txBody>
          <a:bodyPr wrap="none">
            <a:spAutoFit/>
          </a:bodyPr>
          <a:lstStyle/>
          <a:p>
            <a:pPr>
              <a:defRPr sz="2200" b="1">
                <a:solidFill>
                  <a:srgbClr val="0068B5"/>
                </a:solidFill>
              </a:defRPr>
            </a:pPr>
            <a:r>
              <a:t>Data-Driven Optimization</a:t>
            </a:r>
          </a:p>
        </p:txBody>
      </p:sp>
      <p:sp>
        <p:nvSpPr>
          <p:cNvPr id="12" name="TextBox 11"/>
          <p:cNvSpPr txBox="1"/>
          <p:nvPr/>
        </p:nvSpPr>
        <p:spPr>
          <a:xfrm>
            <a:off x="1828800" y="5120640"/>
            <a:ext cx="5486400" cy="365760"/>
          </a:xfrm>
          <a:prstGeom prst="rect">
            <a:avLst/>
          </a:prstGeom>
          <a:noFill/>
        </p:spPr>
        <p:txBody>
          <a:bodyPr wrap="none">
            <a:spAutoFit/>
          </a:bodyPr>
          <a:lstStyle/>
          <a:p>
            <a:pPr>
              <a:defRPr sz="1800">
                <a:solidFill>
                  <a:srgbClr val="333333"/>
                </a:solidFill>
              </a:defRPr>
            </a:pPr>
            <a:r>
              <a:t>Track &amp; measure ROI in real-time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457200"/>
          </a:xfrm>
          <a:prstGeom prst="rect">
            <a:avLst/>
          </a:prstGeom>
          <a:noFill/>
        </p:spPr>
        <p:txBody>
          <a:bodyPr wrap="none">
            <a:spAutoFit/>
          </a:bodyPr>
          <a:lstStyle/>
          <a:p>
            <a:pPr>
              <a:defRPr sz="4000" b="1">
                <a:solidFill>
                  <a:srgbClr val="FFFFFF"/>
                </a:solidFill>
              </a:defRPr>
            </a:pPr>
            <a:r>
              <a:t>Implementation Plan</a:t>
            </a:r>
          </a:p>
        </p:txBody>
      </p:sp>
      <p:sp>
        <p:nvSpPr>
          <p:cNvPr id="4" name="TextBox 3"/>
          <p:cNvSpPr txBox="1"/>
          <p:nvPr/>
        </p:nvSpPr>
        <p:spPr>
          <a:xfrm>
            <a:off x="914400" y="1645920"/>
            <a:ext cx="1371600" cy="457200"/>
          </a:xfrm>
          <a:prstGeom prst="rect">
            <a:avLst/>
          </a:prstGeom>
          <a:noFill/>
        </p:spPr>
        <p:txBody>
          <a:bodyPr wrap="none">
            <a:spAutoFit/>
          </a:bodyPr>
          <a:lstStyle/>
          <a:p>
            <a:pPr>
              <a:defRPr sz="2000" b="1">
                <a:solidFill>
                  <a:srgbClr val="0068B5"/>
                </a:solidFill>
              </a:defRPr>
            </a:pPr>
            <a:r>
              <a:t>Phase 1</a:t>
            </a:r>
          </a:p>
        </p:txBody>
      </p:sp>
      <p:sp>
        <p:nvSpPr>
          <p:cNvPr id="5" name="TextBox 4"/>
          <p:cNvSpPr txBox="1"/>
          <p:nvPr/>
        </p:nvSpPr>
        <p:spPr>
          <a:xfrm>
            <a:off x="2286000" y="1645920"/>
            <a:ext cx="3657600" cy="274320"/>
          </a:xfrm>
          <a:prstGeom prst="rect">
            <a:avLst/>
          </a:prstGeom>
          <a:noFill/>
        </p:spPr>
        <p:txBody>
          <a:bodyPr wrap="none">
            <a:spAutoFit/>
          </a:bodyPr>
          <a:lstStyle/>
          <a:p>
            <a:pPr>
              <a:defRPr sz="2000" b="1">
                <a:solidFill>
                  <a:srgbClr val="333333"/>
                </a:solidFill>
              </a:defRPr>
            </a:pPr>
            <a:r>
              <a:t>Enhanced Digital Catalog</a:t>
            </a:r>
          </a:p>
        </p:txBody>
      </p:sp>
      <p:sp>
        <p:nvSpPr>
          <p:cNvPr id="6" name="TextBox 5"/>
          <p:cNvSpPr txBox="1"/>
          <p:nvPr/>
        </p:nvSpPr>
        <p:spPr>
          <a:xfrm>
            <a:off x="2286000" y="1965960"/>
            <a:ext cx="5486400" cy="274320"/>
          </a:xfrm>
          <a:prstGeom prst="rect">
            <a:avLst/>
          </a:prstGeom>
          <a:noFill/>
        </p:spPr>
        <p:txBody>
          <a:bodyPr wrap="none">
            <a:spAutoFit/>
          </a:bodyPr>
          <a:lstStyle/>
          <a:p>
            <a:pPr>
              <a:defRPr sz="1600">
                <a:solidFill>
                  <a:srgbClr val="808080"/>
                </a:solidFill>
              </a:defRPr>
            </a:pPr>
            <a:r>
              <a:t>Intel.com with AI demos &amp; tools</a:t>
            </a:r>
          </a:p>
        </p:txBody>
      </p:sp>
      <p:sp>
        <p:nvSpPr>
          <p:cNvPr id="7" name="TextBox 6"/>
          <p:cNvSpPr txBox="1"/>
          <p:nvPr/>
        </p:nvSpPr>
        <p:spPr>
          <a:xfrm>
            <a:off x="914400" y="2834640"/>
            <a:ext cx="1371600" cy="457200"/>
          </a:xfrm>
          <a:prstGeom prst="rect">
            <a:avLst/>
          </a:prstGeom>
          <a:noFill/>
        </p:spPr>
        <p:txBody>
          <a:bodyPr wrap="none">
            <a:spAutoFit/>
          </a:bodyPr>
          <a:lstStyle/>
          <a:p>
            <a:pPr>
              <a:defRPr sz="2000" b="1">
                <a:solidFill>
                  <a:srgbClr val="0068B5"/>
                </a:solidFill>
              </a:defRPr>
            </a:pPr>
            <a:r>
              <a:t>Phase 2</a:t>
            </a:r>
          </a:p>
        </p:txBody>
      </p:sp>
      <p:sp>
        <p:nvSpPr>
          <p:cNvPr id="8" name="TextBox 7"/>
          <p:cNvSpPr txBox="1"/>
          <p:nvPr/>
        </p:nvSpPr>
        <p:spPr>
          <a:xfrm>
            <a:off x="2286000" y="2834640"/>
            <a:ext cx="3657600" cy="274320"/>
          </a:xfrm>
          <a:prstGeom prst="rect">
            <a:avLst/>
          </a:prstGeom>
          <a:noFill/>
        </p:spPr>
        <p:txBody>
          <a:bodyPr wrap="none">
            <a:spAutoFit/>
          </a:bodyPr>
          <a:lstStyle/>
          <a:p>
            <a:pPr>
              <a:defRPr sz="2000" b="1">
                <a:solidFill>
                  <a:srgbClr val="333333"/>
                </a:solidFill>
              </a:defRPr>
            </a:pPr>
            <a:r>
              <a:t>E-Commerce Optimization</a:t>
            </a:r>
          </a:p>
        </p:txBody>
      </p:sp>
      <p:sp>
        <p:nvSpPr>
          <p:cNvPr id="9" name="TextBox 8"/>
          <p:cNvSpPr txBox="1"/>
          <p:nvPr/>
        </p:nvSpPr>
        <p:spPr>
          <a:xfrm>
            <a:off x="2286000" y="3154680"/>
            <a:ext cx="5486400" cy="274320"/>
          </a:xfrm>
          <a:prstGeom prst="rect">
            <a:avLst/>
          </a:prstGeom>
          <a:noFill/>
        </p:spPr>
        <p:txBody>
          <a:bodyPr wrap="none">
            <a:spAutoFit/>
          </a:bodyPr>
          <a:lstStyle/>
          <a:p>
            <a:pPr>
              <a:defRPr sz="1600">
                <a:solidFill>
                  <a:srgbClr val="808080"/>
                </a:solidFill>
              </a:defRPr>
            </a:pPr>
            <a:r>
              <a:t>Rich content on Amazon, Best Buy, Newegg</a:t>
            </a:r>
          </a:p>
        </p:txBody>
      </p:sp>
      <p:sp>
        <p:nvSpPr>
          <p:cNvPr id="10" name="TextBox 9"/>
          <p:cNvSpPr txBox="1"/>
          <p:nvPr/>
        </p:nvSpPr>
        <p:spPr>
          <a:xfrm>
            <a:off x="914400" y="4023360"/>
            <a:ext cx="1371600" cy="457200"/>
          </a:xfrm>
          <a:prstGeom prst="rect">
            <a:avLst/>
          </a:prstGeom>
          <a:noFill/>
        </p:spPr>
        <p:txBody>
          <a:bodyPr wrap="none">
            <a:spAutoFit/>
          </a:bodyPr>
          <a:lstStyle/>
          <a:p>
            <a:pPr>
              <a:defRPr sz="2000" b="1">
                <a:solidFill>
                  <a:srgbClr val="0068B5"/>
                </a:solidFill>
              </a:defRPr>
            </a:pPr>
            <a:r>
              <a:t>Phase 3</a:t>
            </a:r>
          </a:p>
        </p:txBody>
      </p:sp>
      <p:sp>
        <p:nvSpPr>
          <p:cNvPr id="11" name="TextBox 10"/>
          <p:cNvSpPr txBox="1"/>
          <p:nvPr/>
        </p:nvSpPr>
        <p:spPr>
          <a:xfrm>
            <a:off x="2286000" y="4023360"/>
            <a:ext cx="3657600" cy="274320"/>
          </a:xfrm>
          <a:prstGeom prst="rect">
            <a:avLst/>
          </a:prstGeom>
          <a:noFill/>
        </p:spPr>
        <p:txBody>
          <a:bodyPr wrap="none">
            <a:spAutoFit/>
          </a:bodyPr>
          <a:lstStyle/>
          <a:p>
            <a:pPr>
              <a:defRPr sz="2000" b="1">
                <a:solidFill>
                  <a:srgbClr val="333333"/>
                </a:solidFill>
              </a:defRPr>
            </a:pPr>
            <a:r>
              <a:t>Direct Response Campaigns</a:t>
            </a:r>
          </a:p>
        </p:txBody>
      </p:sp>
      <p:sp>
        <p:nvSpPr>
          <p:cNvPr id="12" name="TextBox 11"/>
          <p:cNvSpPr txBox="1"/>
          <p:nvPr/>
        </p:nvSpPr>
        <p:spPr>
          <a:xfrm>
            <a:off x="2286000" y="4343400"/>
            <a:ext cx="5486400" cy="274320"/>
          </a:xfrm>
          <a:prstGeom prst="rect">
            <a:avLst/>
          </a:prstGeom>
          <a:noFill/>
        </p:spPr>
        <p:txBody>
          <a:bodyPr wrap="none">
            <a:spAutoFit/>
          </a:bodyPr>
          <a:lstStyle/>
          <a:p>
            <a:pPr>
              <a:defRPr sz="1600">
                <a:solidFill>
                  <a:srgbClr val="808080"/>
                </a:solidFill>
              </a:defRPr>
            </a:pPr>
            <a:r>
              <a:t>Email &amp; social media targeting</a:t>
            </a:r>
          </a:p>
        </p:txBody>
      </p:sp>
      <p:sp>
        <p:nvSpPr>
          <p:cNvPr id="13" name="TextBox 12"/>
          <p:cNvSpPr txBox="1"/>
          <p:nvPr/>
        </p:nvSpPr>
        <p:spPr>
          <a:xfrm>
            <a:off x="914400" y="5212080"/>
            <a:ext cx="1371600" cy="457200"/>
          </a:xfrm>
          <a:prstGeom prst="rect">
            <a:avLst/>
          </a:prstGeom>
          <a:noFill/>
        </p:spPr>
        <p:txBody>
          <a:bodyPr wrap="none">
            <a:spAutoFit/>
          </a:bodyPr>
          <a:lstStyle/>
          <a:p>
            <a:pPr>
              <a:defRPr sz="2000" b="1">
                <a:solidFill>
                  <a:srgbClr val="0068B5"/>
                </a:solidFill>
              </a:defRPr>
            </a:pPr>
            <a:r>
              <a:t>Phase 4</a:t>
            </a:r>
          </a:p>
        </p:txBody>
      </p:sp>
      <p:sp>
        <p:nvSpPr>
          <p:cNvPr id="14" name="TextBox 13"/>
          <p:cNvSpPr txBox="1"/>
          <p:nvPr/>
        </p:nvSpPr>
        <p:spPr>
          <a:xfrm>
            <a:off x="2286000" y="5212080"/>
            <a:ext cx="3657600" cy="274320"/>
          </a:xfrm>
          <a:prstGeom prst="rect">
            <a:avLst/>
          </a:prstGeom>
          <a:noFill/>
        </p:spPr>
        <p:txBody>
          <a:bodyPr wrap="none">
            <a:spAutoFit/>
          </a:bodyPr>
          <a:lstStyle/>
          <a:p>
            <a:pPr>
              <a:defRPr sz="2000" b="1">
                <a:solidFill>
                  <a:srgbClr val="333333"/>
                </a:solidFill>
              </a:defRPr>
            </a:pPr>
            <a:r>
              <a:t>Influencer Partnerships</a:t>
            </a:r>
          </a:p>
        </p:txBody>
      </p:sp>
      <p:sp>
        <p:nvSpPr>
          <p:cNvPr id="15" name="TextBox 14"/>
          <p:cNvSpPr txBox="1"/>
          <p:nvPr/>
        </p:nvSpPr>
        <p:spPr>
          <a:xfrm>
            <a:off x="2286000" y="5532120"/>
            <a:ext cx="5486400" cy="274320"/>
          </a:xfrm>
          <a:prstGeom prst="rect">
            <a:avLst/>
          </a:prstGeom>
          <a:noFill/>
        </p:spPr>
        <p:txBody>
          <a:bodyPr wrap="none">
            <a:spAutoFit/>
          </a:bodyPr>
          <a:lstStyle/>
          <a:p>
            <a:pPr>
              <a:defRPr sz="1600">
                <a:solidFill>
                  <a:srgbClr val="808080"/>
                </a:solidFill>
              </a:defRPr>
            </a:pPr>
            <a:r>
              <a:t>Tech YouTuber collaborations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457200"/>
          </a:xfrm>
          <a:prstGeom prst="rect">
            <a:avLst/>
          </a:prstGeom>
          <a:noFill/>
        </p:spPr>
        <p:txBody>
          <a:bodyPr wrap="none">
            <a:spAutoFit/>
          </a:bodyPr>
          <a:lstStyle/>
          <a:p>
            <a:pPr>
              <a:defRPr sz="4000" b="1">
                <a:solidFill>
                  <a:srgbClr val="FFFFFF"/>
                </a:solidFill>
              </a:defRPr>
            </a:pPr>
            <a:r>
              <a:t>Expected Outcomes</a:t>
            </a:r>
          </a:p>
        </p:txBody>
      </p:sp>
      <p:sp>
        <p:nvSpPr>
          <p:cNvPr id="4" name="TextBox 3"/>
          <p:cNvSpPr txBox="1"/>
          <p:nvPr/>
        </p:nvSpPr>
        <p:spPr>
          <a:xfrm>
            <a:off x="1097280" y="1828800"/>
            <a:ext cx="2011680" cy="914400"/>
          </a:xfrm>
          <a:prstGeom prst="rect">
            <a:avLst/>
          </a:prstGeom>
          <a:noFill/>
        </p:spPr>
        <p:txBody>
          <a:bodyPr wrap="none">
            <a:spAutoFit/>
          </a:bodyPr>
          <a:lstStyle/>
          <a:p>
            <a:pPr algn="ctr">
              <a:defRPr sz="4800" b="1">
                <a:solidFill>
                  <a:srgbClr val="0068B5"/>
                </a:solidFill>
              </a:defRPr>
            </a:pPr>
            <a:r>
              <a:t>20%</a:t>
            </a:r>
          </a:p>
        </p:txBody>
      </p:sp>
      <p:sp>
        <p:nvSpPr>
          <p:cNvPr id="5" name="TextBox 4"/>
          <p:cNvSpPr txBox="1"/>
          <p:nvPr/>
        </p:nvSpPr>
        <p:spPr>
          <a:xfrm>
            <a:off x="1097280" y="2743200"/>
            <a:ext cx="2011680" cy="365760"/>
          </a:xfrm>
          <a:prstGeom prst="rect">
            <a:avLst/>
          </a:prstGeom>
          <a:noFill/>
        </p:spPr>
        <p:txBody>
          <a:bodyPr wrap="none">
            <a:spAutoFit/>
          </a:bodyPr>
          <a:lstStyle/>
          <a:p>
            <a:pPr algn="ctr">
              <a:defRPr sz="2000" b="1">
                <a:solidFill>
                  <a:srgbClr val="333333"/>
                </a:solidFill>
              </a:defRPr>
            </a:pPr>
            <a:r>
              <a:t>Sales Increase</a:t>
            </a:r>
          </a:p>
        </p:txBody>
      </p:sp>
      <p:sp>
        <p:nvSpPr>
          <p:cNvPr id="6" name="TextBox 5"/>
          <p:cNvSpPr txBox="1"/>
          <p:nvPr/>
        </p:nvSpPr>
        <p:spPr>
          <a:xfrm>
            <a:off x="1097280" y="3200400"/>
            <a:ext cx="2011680" cy="365760"/>
          </a:xfrm>
          <a:prstGeom prst="rect">
            <a:avLst/>
          </a:prstGeom>
          <a:noFill/>
        </p:spPr>
        <p:txBody>
          <a:bodyPr wrap="none">
            <a:spAutoFit/>
          </a:bodyPr>
          <a:lstStyle/>
          <a:p>
            <a:pPr algn="ctr">
              <a:defRPr sz="1400">
                <a:solidFill>
                  <a:srgbClr val="808080"/>
                </a:solidFill>
              </a:defRPr>
            </a:pPr>
            <a:r>
              <a:t>Core Ultra Series 3</a:t>
            </a:r>
          </a:p>
        </p:txBody>
      </p:sp>
      <p:sp>
        <p:nvSpPr>
          <p:cNvPr id="7" name="TextBox 6"/>
          <p:cNvSpPr txBox="1"/>
          <p:nvPr/>
        </p:nvSpPr>
        <p:spPr>
          <a:xfrm>
            <a:off x="3474720" y="1828800"/>
            <a:ext cx="2011680" cy="914400"/>
          </a:xfrm>
          <a:prstGeom prst="rect">
            <a:avLst/>
          </a:prstGeom>
          <a:noFill/>
        </p:spPr>
        <p:txBody>
          <a:bodyPr wrap="none">
            <a:spAutoFit/>
          </a:bodyPr>
          <a:lstStyle/>
          <a:p>
            <a:pPr algn="ctr">
              <a:defRPr sz="4800" b="1">
                <a:solidFill>
                  <a:srgbClr val="0068B5"/>
                </a:solidFill>
              </a:defRPr>
            </a:pPr>
            <a:r>
              <a:t>15%</a:t>
            </a:r>
          </a:p>
        </p:txBody>
      </p:sp>
      <p:sp>
        <p:nvSpPr>
          <p:cNvPr id="8" name="TextBox 7"/>
          <p:cNvSpPr txBox="1"/>
          <p:nvPr/>
        </p:nvSpPr>
        <p:spPr>
          <a:xfrm>
            <a:off x="3474720" y="2743200"/>
            <a:ext cx="2011680" cy="365760"/>
          </a:xfrm>
          <a:prstGeom prst="rect">
            <a:avLst/>
          </a:prstGeom>
          <a:noFill/>
        </p:spPr>
        <p:txBody>
          <a:bodyPr wrap="none">
            <a:spAutoFit/>
          </a:bodyPr>
          <a:lstStyle/>
          <a:p>
            <a:pPr algn="ctr">
              <a:defRPr sz="2000" b="1">
                <a:solidFill>
                  <a:srgbClr val="333333"/>
                </a:solidFill>
              </a:defRPr>
            </a:pPr>
            <a:r>
              <a:t>Brand Awareness</a:t>
            </a:r>
          </a:p>
        </p:txBody>
      </p:sp>
      <p:sp>
        <p:nvSpPr>
          <p:cNvPr id="9" name="TextBox 8"/>
          <p:cNvSpPr txBox="1"/>
          <p:nvPr/>
        </p:nvSpPr>
        <p:spPr>
          <a:xfrm>
            <a:off x="3474720" y="3200400"/>
            <a:ext cx="2011680" cy="365760"/>
          </a:xfrm>
          <a:prstGeom prst="rect">
            <a:avLst/>
          </a:prstGeom>
          <a:noFill/>
        </p:spPr>
        <p:txBody>
          <a:bodyPr wrap="none">
            <a:spAutoFit/>
          </a:bodyPr>
          <a:lstStyle/>
          <a:p>
            <a:pPr algn="ctr">
              <a:defRPr sz="1400">
                <a:solidFill>
                  <a:srgbClr val="808080"/>
                </a:solidFill>
              </a:defRPr>
            </a:pPr>
            <a:r>
              <a:t>Among target audience</a:t>
            </a:r>
          </a:p>
        </p:txBody>
      </p:sp>
      <p:sp>
        <p:nvSpPr>
          <p:cNvPr id="10" name="TextBox 9"/>
          <p:cNvSpPr txBox="1"/>
          <p:nvPr/>
        </p:nvSpPr>
        <p:spPr>
          <a:xfrm>
            <a:off x="5852160" y="1828800"/>
            <a:ext cx="2011680" cy="914400"/>
          </a:xfrm>
          <a:prstGeom prst="rect">
            <a:avLst/>
          </a:prstGeom>
          <a:noFill/>
        </p:spPr>
        <p:txBody>
          <a:bodyPr wrap="none">
            <a:spAutoFit/>
          </a:bodyPr>
          <a:lstStyle/>
          <a:p>
            <a:pPr algn="ctr">
              <a:defRPr sz="4800" b="1">
                <a:solidFill>
                  <a:srgbClr val="0068B5"/>
                </a:solidFill>
              </a:defRPr>
            </a:pPr>
            <a:r>
              <a:t>10,000+</a:t>
            </a:r>
          </a:p>
        </p:txBody>
      </p:sp>
      <p:sp>
        <p:nvSpPr>
          <p:cNvPr id="11" name="TextBox 10"/>
          <p:cNvSpPr txBox="1"/>
          <p:nvPr/>
        </p:nvSpPr>
        <p:spPr>
          <a:xfrm>
            <a:off x="5852160" y="2743200"/>
            <a:ext cx="2011680" cy="365760"/>
          </a:xfrm>
          <a:prstGeom prst="rect">
            <a:avLst/>
          </a:prstGeom>
          <a:noFill/>
        </p:spPr>
        <p:txBody>
          <a:bodyPr wrap="none">
            <a:spAutoFit/>
          </a:bodyPr>
          <a:lstStyle/>
          <a:p>
            <a:pPr algn="ctr">
              <a:defRPr sz="2000" b="1">
                <a:solidFill>
                  <a:srgbClr val="333333"/>
                </a:solidFill>
              </a:defRPr>
            </a:pPr>
            <a:r>
              <a:t>Qualified Leads</a:t>
            </a:r>
          </a:p>
        </p:txBody>
      </p:sp>
      <p:sp>
        <p:nvSpPr>
          <p:cNvPr id="12" name="TextBox 11"/>
          <p:cNvSpPr txBox="1"/>
          <p:nvPr/>
        </p:nvSpPr>
        <p:spPr>
          <a:xfrm>
            <a:off x="5852160" y="3200400"/>
            <a:ext cx="2011680" cy="365760"/>
          </a:xfrm>
          <a:prstGeom prst="rect">
            <a:avLst/>
          </a:prstGeom>
          <a:noFill/>
        </p:spPr>
        <p:txBody>
          <a:bodyPr wrap="none">
            <a:spAutoFit/>
          </a:bodyPr>
          <a:lstStyle/>
          <a:p>
            <a:pPr algn="ctr">
              <a:defRPr sz="1400">
                <a:solidFill>
                  <a:srgbClr val="808080"/>
                </a:solidFill>
              </a:defRPr>
            </a:pPr>
            <a:r>
              <a:t>Valentine's campaign</a:t>
            </a:r>
          </a:p>
        </p:txBody>
      </p:sp>
      <p:sp>
        <p:nvSpPr>
          <p:cNvPr id="13" name="TextBox 12"/>
          <p:cNvSpPr txBox="1"/>
          <p:nvPr/>
        </p:nvSpPr>
        <p:spPr>
          <a:xfrm>
            <a:off x="1828800" y="4572000"/>
            <a:ext cx="5486400" cy="914400"/>
          </a:xfrm>
          <a:prstGeom prst="rect">
            <a:avLst/>
          </a:prstGeom>
          <a:noFill/>
        </p:spPr>
        <p:txBody>
          <a:bodyPr wrap="none">
            <a:spAutoFit/>
          </a:bodyPr>
          <a:lstStyle/>
          <a:p>
            <a:pPr algn="ctr">
              <a:defRPr sz="1800">
                <a:solidFill>
                  <a:srgbClr val="333333"/>
                </a:solidFill>
              </a:defRPr>
            </a:pPr>
            <a:r>
              <a:t>8,000+ new email subscribers for future campaigns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6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457200"/>
          </a:xfrm>
          <a:prstGeom prst="rect">
            <a:avLst/>
          </a:prstGeom>
          <a:noFill/>
        </p:spPr>
        <p:txBody>
          <a:bodyPr wrap="none">
            <a:spAutoFit/>
          </a:bodyPr>
          <a:lstStyle/>
          <a:p>
            <a:pPr>
              <a:defRPr sz="4000" b="1">
                <a:solidFill>
                  <a:srgbClr val="FFFFFF"/>
                </a:solidFill>
              </a:defRPr>
            </a:pPr>
            <a:r>
              <a:t>Conclusion</a:t>
            </a:r>
          </a:p>
        </p:txBody>
      </p:sp>
      <p:sp>
        <p:nvSpPr>
          <p:cNvPr id="4" name="TextBox 3"/>
          <p:cNvSpPr txBox="1"/>
          <p:nvPr/>
        </p:nvSpPr>
        <p:spPr>
          <a:xfrm>
            <a:off x="914400" y="1828800"/>
            <a:ext cx="7315200" cy="1828800"/>
          </a:xfrm>
          <a:prstGeom prst="rect">
            <a:avLst/>
          </a:prstGeom>
          <a:noFill/>
        </p:spPr>
        <p:txBody>
          <a:bodyPr wrap="square">
            <a:spAutoFit/>
          </a:bodyPr>
          <a:lstStyle/>
          <a:p>
            <a:pPr algn="ctr">
              <a:defRPr sz="3200" b="1">
                <a:solidFill>
                  <a:srgbClr val="0068B5"/>
                </a:solidFill>
              </a:defRPr>
            </a:pPr>
            <a:r>
              <a:t>Direct Marketing is the optimal non-store retailing strategy for Intel Core Ultra Series 3</a:t>
            </a:r>
          </a:p>
        </p:txBody>
      </p:sp>
      <p:sp>
        <p:nvSpPr>
          <p:cNvPr id="5" name="TextBox 4"/>
          <p:cNvSpPr txBox="1"/>
          <p:nvPr/>
        </p:nvSpPr>
        <p:spPr>
          <a:xfrm>
            <a:off x="1371600" y="4114800"/>
            <a:ext cx="6400800" cy="2286000"/>
          </a:xfrm>
          <a:prstGeom prst="rect">
            <a:avLst/>
          </a:prstGeom>
          <a:noFill/>
        </p:spPr>
        <p:txBody>
          <a:bodyPr wrap="square">
            <a:spAutoFit/>
          </a:bodyPr>
          <a:lstStyle/>
          <a:p>
            <a:pPr>
              <a:spcAft>
                <a:spcPts val="1200"/>
              </a:spcAft>
              <a:defRPr sz="2000">
                <a:solidFill>
                  <a:srgbClr val="333333"/>
                </a:solidFill>
              </a:defRPr>
            </a:pPr>
            <a:r>
              <a:t>✓ Reaches tech enthusiasts where they research &amp; buy</a:t>
            </a:r>
          </a:p>
          <a:p>
            <a:pPr>
              <a:spcAft>
                <a:spcPts val="1200"/>
              </a:spcAft>
              <a:defRPr sz="2000">
                <a:solidFill>
                  <a:srgbClr val="333333"/>
                </a:solidFill>
              </a:defRPr>
            </a:pPr>
            <a:r>
              <a:t>✓ Cost-effective &amp; globally scalable</a:t>
            </a:r>
          </a:p>
          <a:p>
            <a:pPr>
              <a:spcAft>
                <a:spcPts val="1200"/>
              </a:spcAft>
              <a:defRPr sz="2000">
                <a:solidFill>
                  <a:srgbClr val="333333"/>
                </a:solidFill>
              </a:defRPr>
            </a:pPr>
            <a:r>
              <a:t>✓ Data-driven with measurable ROI</a:t>
            </a:r>
          </a:p>
          <a:p>
            <a:pPr>
              <a:spcAft>
                <a:spcPts val="1200"/>
              </a:spcAft>
              <a:defRPr sz="2000">
                <a:solidFill>
                  <a:srgbClr val="333333"/>
                </a:solidFill>
              </a:defRPr>
            </a:pPr>
            <a:r>
              <a:t>✓ Leverages partner e-commerce infrastructure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
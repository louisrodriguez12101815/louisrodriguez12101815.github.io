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6" r:id="rId2"/>
    <p:sldId id="257" r:id="rId3"/>
    <p:sldId id="258"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128" autoAdjust="0"/>
  </p:normalViewPr>
  <p:slideViewPr>
    <p:cSldViewPr snapToGrid="0" snapToObjects="1">
      <p:cViewPr varScale="1">
        <p:scale>
          <a:sx n="76" d="100"/>
          <a:sy n="76" d="100"/>
        </p:scale>
        <p:origin x="26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527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NEW PRODUCT INTRODUCTION ===</a:t>
            </a:r>
          </a:p>
          <a:p>
            <a:endParaRPr/>
          </a:p>
          <a:p>
            <a:r>
              <a:t>PRODUCT: Intel Core Ultra X AI Creator Edition</a:t>
            </a:r>
          </a:p>
          <a:p>
            <a:r>
              <a:t>Target Launch: Q4 2026 | Premium AI Content Creation Processor</a:t>
            </a:r>
          </a:p>
          <a:p>
            <a:endParaRPr/>
          </a:p>
          <a:p>
            <a:r>
              <a:t>STRATEGIC RATIONALE FOR NEW PRODUCT:</a:t>
            </a:r>
          </a:p>
          <a:p>
            <a:endParaRPr/>
          </a:p>
          <a:p>
            <a:r>
              <a:t>• MARKET GAP: Professional content creators currently rely on workstation-class Xeon or competitor AMD Threadripper—missing opportunity for high-margin consumer-pro hybrid segment</a:t>
            </a:r>
          </a:p>
          <a:p>
            <a:endParaRPr/>
          </a:p>
          <a:p>
            <a:r>
              <a:t>• COMPETITIVE RESPONSE: AMD's Ryzen AI Max+ 395 dominates creative workstation market; Intel needs differentiated offering to reclaim professional creator segment</a:t>
            </a:r>
          </a:p>
          <a:p>
            <a:endParaRPr/>
          </a:p>
          <a:p>
            <a:r>
              <a:t>• TARGET MARKET EXPANSION: Capture 25-40 year old creative professionals ($80K-$200K income) who need desktop-replacement mobile workstations for AI-enhanced content creation</a:t>
            </a:r>
          </a:p>
          <a:p>
            <a:endParaRPr/>
          </a:p>
          <a:p>
            <a:r>
              <a:t>• ORGANIZATIONAL ALIGNMENT: Supports Intel's vision as "trusted performance leader" and mission to deliver "cloud to edge computing" while expanding AI PC ecosystem beyond business/enterprise into creative professional segment</a:t>
            </a:r>
          </a:p>
          <a:p>
            <a:endParaRPr/>
          </a:p>
          <a:p>
            <a:r>
              <a:t>KEY DIFFERENTIATORS &amp; FEATURES:</a:t>
            </a:r>
          </a:p>
          <a:p>
            <a:r>
              <a:t>• Enhanced NPU with 80+ TOPS for real-time AI video enhancement, background removal, and neural filters</a:t>
            </a:r>
          </a:p>
          <a:p>
            <a:r>
              <a:t>• Integrated professional-grade color calibration and 10-bit HDR support</a:t>
            </a:r>
          </a:p>
          <a:p>
            <a:r>
              <a:t>• Optimized for Adobe Creative Cloud, DaVinci Resolve, Blender, and AI tools (Stable Diffusion, Midjourney local)</a:t>
            </a:r>
          </a:p>
          <a:p>
            <a:r>
              <a:t>• 32GB+ unified memory architecture for seamless 8K video editing</a:t>
            </a:r>
          </a:p>
          <a:p>
            <a:r>
              <a:t>• Bundled Intel AI Creator Studio software suite (exclusive content creation tools)</a:t>
            </a:r>
          </a:p>
          <a:p>
            <a:r>
              <a:t>• Partnership with Adobe, Blackmagic Design for certification and optimization</a:t>
            </a:r>
          </a:p>
          <a:p>
            <a:endParaRPr/>
          </a:p>
          <a:p>
            <a:r>
              <a:t>SUCCESS METRICS: </a:t>
            </a:r>
          </a:p>
          <a:p>
            <a:r>
              <a:t>Capture 15% of professional creator processor market by Q2 2027 | $1,200-$1,800 price point | Premium margins (45%+) | Strategic OEM partnerships with Dell XPS, HP ZBook, Lenovo ThinkPad P-Series | Expand Core Ultra ecosystem into $12B creative professional market</a:t>
            </a:r>
          </a:p>
          <a:p>
            <a:endParaRPr/>
          </a:p>
          <a:p>
            <a:r>
              <a:t>---</a:t>
            </a:r>
          </a:p>
          <a:p>
            <a:endParaRPr/>
          </a:p>
          <a:p>
            <a:r>
              <a:t>TARGET MARKET (500 chars):</a:t>
            </a:r>
          </a:p>
          <a:p>
            <a:r>
              <a:t>Intel's target market for the AI Creator Edition spans professional content creators aged 25-40 earning $80K-$200K annually. This includes video editors, 3D animators, motion graphics artists, AI developers, and digital content producers who demand desktop-class performance in mobile form factors. These professionals work with Adobe Creative Cloud, DaVinci Resolve, Blender, and AI generation tools. They value offline AI processing for privacy, need 8K video editing capabilities, and require color-accurate displays. Geographic focus: North America, Western Europe creative hubs.</a:t>
            </a:r>
          </a:p>
          <a:p>
            <a:endParaRPr/>
          </a:p>
          <a:p>
            <a:r>
              <a:t>ORGANIZATIONAL OBJECTIVES (500 chars):</a:t>
            </a:r>
          </a:p>
          <a:p>
            <a:r>
              <a:t>Intel's organizational objectives center on becoming "the trusted performance leader that unleashes the potential of data" through silicon innovation. Key priorities include: (1) Delivering predictable cadence of leadership products across AI, 5G, and intelligent edge markets, (2) Transitioning from CPU-centric to multi-architecture xPU company, (3) Achieving cost efficiency ($10B savings by 2025), (4) U.S. manufacturing leadership via 18A technology, (5) Expanding data-centric market opportunities beyond PCs, (6) Customer-first innovation with challenger mindset, (7) Environmental sustainability (net-zero by 2040).</a:t>
            </a:r>
          </a:p>
          <a:p>
            <a:endParaRPr/>
          </a:p>
          <a:p>
            <a:r>
              <a:t>PRODUCT LINES (500 chars):</a:t>
            </a:r>
          </a:p>
          <a:p>
            <a:r>
              <a:t>Intel's current product portfolio includes: (1) Core Ultra Series (consumer AI PCs - flagship), (2) Core processors (mainstream mobile/desktop), (3) Xeon Scalable (data center/enterprise servers), (4) Xeon 6 (cloud-optimized processors for AWS, Azure), (5) Arc graphics (discrete and integrated GPUs), (6) Atom (IoT/embedded), (7) Optane memory (discontinued but still in market), (8) Networking products (Ethernet adapters), (9) Foundry services (18A manufacturing for external clients), (10) Mobileye (autonomous driving chips). Focus shifting toward AI acceleration, edge computing, and data center solutions.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MODIFY EXISTING PRODUCT ===</a:t>
            </a:r>
          </a:p>
          <a:p>
            <a:endParaRPr/>
          </a:p>
          <a:p>
            <a:r>
              <a:t>PRODUCT TO MODIFY: Intel Xeon 6 (Server/Data Center Line)</a:t>
            </a:r>
          </a:p>
          <a:p>
            <a:r>
              <a:t>Proposed: Xeon 6 "AI Accelerator" Refresh with Enhanced NPU</a:t>
            </a:r>
          </a:p>
          <a:p>
            <a:r>
              <a:t>Target Launch: Q2 2026 | Competitive Response to AMD EPYC &amp; NVIDIA Grace</a:t>
            </a:r>
          </a:p>
          <a:p>
            <a:endParaRPr/>
          </a:p>
          <a:p>
            <a:r>
              <a:t>STRATEGIC RATIONALE FOR MODIFICATION:</a:t>
            </a:r>
          </a:p>
          <a:p>
            <a:endParaRPr/>
          </a:p>
          <a:p>
            <a:r>
              <a:t>• COMPETITIVE PRESSURE: AMD EPYC gaining data center market share (now 24%+); NVIDIA Grace CPU emerging as AI inference threat; Qualcomm entering server market—Intel Xeon needs differentiation beyond raw compute</a:t>
            </a:r>
          </a:p>
          <a:p>
            <a:endParaRPr/>
          </a:p>
          <a:p>
            <a:r>
              <a:t>• MARKET EVOLUTION: Data centers shifting from general compute to AI-first workloads; customers demand integrated AI acceleration without discrete GPUs for cost efficiency and power savings</a:t>
            </a:r>
          </a:p>
          <a:p>
            <a:endParaRPr/>
          </a:p>
          <a:p>
            <a:r>
              <a:t>• TARGET MARKET RETENTION: Enterprise IT decision-makers and cloud providers (AWS, Azure, Google Cloud) demand AI-optimized server processors; current Xeon 6 lacks competitive AI inference performance vs. competitors</a:t>
            </a:r>
          </a:p>
          <a:p>
            <a:endParaRPr/>
          </a:p>
          <a:p>
            <a:r>
              <a:t>• ORGANIZATIONAL ALIGNMENT: Modification supports Intel's mission to deliver "leadership products" and vision as "performance leader" in data-centric computing; aligns with AI-first strategic priority and cost efficiency goals (reducing discrete GPU dependency)</a:t>
            </a:r>
          </a:p>
          <a:p>
            <a:endParaRPr/>
          </a:p>
          <a:p>
            <a:r>
              <a:t>KEY MODIFICATIONS &amp; ENHANCEMENTS:</a:t>
            </a:r>
          </a:p>
          <a:p>
            <a:r>
              <a:t>• Integrate enhanced NPU (150+ TOPS) directly into Xeon 6 die for AI inference workloads (LLM, computer vision, recommendation engines)</a:t>
            </a:r>
          </a:p>
          <a:p>
            <a:r>
              <a:t>• Add AMX (Advanced Matrix Extensions) tiles optimized for INT8/INT4 quantized models</a:t>
            </a:r>
          </a:p>
          <a:p>
            <a:r>
              <a:t>• Improve memory bandwidth with HBM3 support for AI model serving</a:t>
            </a:r>
          </a:p>
          <a:p>
            <a:r>
              <a:t>• Enhanced power management for 30% better performance-per-watt on AI workloads</a:t>
            </a:r>
          </a:p>
          <a:p>
            <a:r>
              <a:t>• Software optimization: oneAPI AI toolkit with pre-optimized models (PyTorch, TensorFlow, ONNX)</a:t>
            </a:r>
          </a:p>
          <a:p>
            <a:r>
              <a:t>• Maintain backward compatibility with existing Xeon 6 infrastructure and pricing ($2,000-$6,000 range)</a:t>
            </a:r>
          </a:p>
          <a:p>
            <a:endParaRPr/>
          </a:p>
          <a:p>
            <a:r>
              <a:t>SUCCESS METRICS: </a:t>
            </a:r>
          </a:p>
          <a:p>
            <a:r>
              <a:t>Retain 75%+ data center market share by end of 2026 | Increase Xeon revenue by 20% in AI inference segment | Reduce customer discrete GPU costs by 40% for standard AI workloads | Strengthen AWS, Microsoft Azure, Google Cloud partnerships | Win back market share from AMD EPYC (target: reclaim 5% market share in 12 months)</a:t>
            </a:r>
          </a:p>
          <a:p>
            <a:endParaRPr/>
          </a:p>
          <a:p>
            <a:r>
              <a:t>---</a:t>
            </a:r>
          </a:p>
          <a:p>
            <a:endParaRPr/>
          </a:p>
          <a:p>
            <a:r>
              <a:t>TARGET MARKET (500 chars):</a:t>
            </a:r>
          </a:p>
          <a:p>
            <a:r>
              <a:t>The Xeon 6 AI Accelerator targets enterprise IT decision-makers, data center architects, and cloud service providers aged 30-55 with technical backgrounds. Primary customers include Fortune 500 companies, hyperscalers (AWS, Azure, Google Cloud), financial services firms, healthcare systems, and AI-first startups requiring high-performance server infrastructure. These buyers prioritize total cost of ownership, power efficiency, AI workload performance, and vendor ecosystem support. Budget range: $50K-$5M+ per deployment. Geographic concentration: North America, EMEA enterprise markets, Asia-Pacific cloud regions.</a:t>
            </a:r>
          </a:p>
          <a:p>
            <a:endParaRPr/>
          </a:p>
          <a:p>
            <a:r>
              <a:t>ORGANIZATIONAL OBJECTIVES (500 chars):</a:t>
            </a:r>
          </a:p>
          <a:p>
            <a:r>
              <a:t>Intel's organizational objectives emphasize silicon leadership and data-centric transformation. Core goals include: (1) Delivering consistent product innovation cadence to maintain competitive edge, (2) Transitioning to multi-architecture computing (CPU, GPU, accelerators, FPGAs), (3) Capturing AI, 5G, and edge computing growth opportunities totaling $300B+ TAM by 2026, (4) Achieving operational efficiency with $10B cost reductions while investing in R&amp;D, (5) Manufacturing excellence through 18A process technology leadership, (6) Customer-first approach solving complex challenges, (7) Quality, integrity, and results-driven culture.</a:t>
            </a:r>
          </a:p>
          <a:p>
            <a:endParaRPr/>
          </a:p>
          <a:p>
            <a:r>
              <a:t>PRODUCT LINES (500 chars):</a:t>
            </a:r>
          </a:p>
          <a:p>
            <a:r>
              <a:t>Intel maintains diverse product portfolio: (1) Core Ultra Series 3 - flagship AI PC processors (18A tech), (2) Core i3/i5/i7/i9 - mainstream consumer processors, (3) Xeon Scalable - enterprise server processors (primary data center line), (4) Xeon 6 - cloud-optimized with E-cores/P-cores, (5) Arc GPUs - discrete graphics (B-series Battlemage), (6) Arc integrated graphics, (7) Gaudi AI accelerators - data center AI training, (8) Habana - AI inference chips, (9) Atom - IoT/embedded, (10) Foundry Services - 18A manufacturing, (11) Networking - Ethernet controllers, (12) Mobileye - autonomous driving.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ELIMINATE PRODUCT ===</a:t>
            </a:r>
          </a:p>
          <a:p>
            <a:endParaRPr/>
          </a:p>
          <a:p>
            <a:r>
              <a:t>PRODUCT TO ELIMINATE: Intel Optane Persistent Memory</a:t>
            </a:r>
          </a:p>
          <a:p>
            <a:r>
              <a:t>Current Status: Legacy product line with declining sales</a:t>
            </a:r>
          </a:p>
          <a:p>
            <a:r>
              <a:t>Proposed: Phase out by Q4 2026 with enterprise transition support</a:t>
            </a:r>
          </a:p>
          <a:p>
            <a:endParaRPr/>
          </a:p>
          <a:p>
            <a:r>
              <a:t>STRATEGIC RATIONALE FOR ELIMINATION:</a:t>
            </a:r>
          </a:p>
          <a:p>
            <a:endParaRPr/>
          </a:p>
          <a:p>
            <a:r>
              <a:t>• MARKET FAILURE: Optane persistent memory never achieved projected market adoption; enterprise customers chose cheaper DRAM + NVMe SSD combinations instead; minimal revenue contribution (&lt;1% of total Intel revenue)</a:t>
            </a:r>
          </a:p>
          <a:p>
            <a:endParaRPr/>
          </a:p>
          <a:p>
            <a:r>
              <a:t>• COMPETITIVE OBSOLESCENCE: Samsung, Micron, SK Hynix advanced DRAM and NAND technologies surpassed Optane's value proposition; CXL (Compute Express Link) memory emerging as superior architecture; Intel discontinued consumer Optane in 2022, enterprise line struggling</a:t>
            </a:r>
          </a:p>
          <a:p>
            <a:endParaRPr/>
          </a:p>
          <a:p>
            <a:r>
              <a:t>• MISALIGNMENT WITH TARGET MARKET: Original target (data centers needing memory-storage hybrid) found alternatives; pricing ($4,000+ per module) prohibitive vs. standard DRAM; complexity of integration deterred mass adoption; niche use cases insufficient for profitability</a:t>
            </a:r>
          </a:p>
          <a:p>
            <a:endParaRPr/>
          </a:p>
          <a:p>
            <a:r>
              <a:t>• ORGANIZATIONAL MISALIGNMENT: Optane drains R&amp;D resources better allocated to AI, 18A manufacturing, and Core/Xeon roadmap priorities; distracts from "leadership products" mission; doesn't support core strategic pillars (AI PCs, data center AI, edge computing); Intel foundry transition makes exotic memory architectures non-core</a:t>
            </a:r>
          </a:p>
          <a:p>
            <a:endParaRPr/>
          </a:p>
          <a:p>
            <a:r>
              <a:t>PHASE-OUT STRATEGY &amp; RESOURCE REALLOCATION:</a:t>
            </a:r>
          </a:p>
          <a:p>
            <a:r>
              <a:t>• TIMELINE: End new sales Q2 2026; provide 3-year support for existing enterprise customers; offer migration path to CXL-based memory solutions</a:t>
            </a:r>
          </a:p>
          <a:p>
            <a:r>
              <a:t>• RESOURCE REALLOCATION: Redirect $500M+ annual Optane R&amp;D to Core Ultra AI features and Xeon AI acceleration development</a:t>
            </a:r>
          </a:p>
          <a:p>
            <a:r>
              <a:t>• CUSTOMER TRANSITION: Partner with Samsung/Micron to provide alternative memory solutions; offer trade-in credits for existing customers</a:t>
            </a:r>
          </a:p>
          <a:p>
            <a:r>
              <a:t>• MANUFACTURING: Convert Optane fab capacity to advanced packaging for 18A processors and Foveros 3D stacking</a:t>
            </a:r>
          </a:p>
          <a:p>
            <a:r>
              <a:t>• EMPLOYEE REDEPLOYMENT: Transition 1,200+ Optane engineers to AI accelerator, CXL memory, and foundry technology teams</a:t>
            </a:r>
          </a:p>
          <a:p>
            <a:endParaRPr/>
          </a:p>
          <a:p>
            <a:r>
              <a:t>FINANCIAL IMPACT: </a:t>
            </a:r>
          </a:p>
          <a:p>
            <a:r>
              <a:t>Eliminate $800M annual losses from Optane business unit | Reallocate $500M R&amp;D to high-growth AI processor development | Free up manufacturing capacity for 18A production ramp | Reduce operational complexity supporting Intel's $10B cost reduction goal | One-time write-down: $1.2B (inventory, contracts, fab retooling)</a:t>
            </a:r>
          </a:p>
          <a:p>
            <a:endParaRPr/>
          </a:p>
          <a:p>
            <a:r>
              <a:t>---</a:t>
            </a:r>
          </a:p>
          <a:p>
            <a:endParaRPr/>
          </a:p>
          <a:p>
            <a:r>
              <a:t>TARGET MARKET (500 chars):</a:t>
            </a:r>
          </a:p>
          <a:p>
            <a:r>
              <a:t>Optane's original target market included enterprise data center operators, cloud service providers, and high-performance computing facilities requiring memory-tier storage performance. These IT infrastructure decision-makers (ages 35-55) at Fortune 1000 companies, research institutions, and hyperscalers sought to bridge the gap between DRAM speed and SSD capacity. However, market adoption was limited to select use cases like in-memory databases, virtualization hosts, and caching layers. High costs ($4K+ per module) and integration complexity restricted adoption. Current installed base: &lt;5,000 enterprise customers globally.</a:t>
            </a:r>
          </a:p>
          <a:p>
            <a:endParaRPr/>
          </a:p>
          <a:p>
            <a:r>
              <a:t>ORGANIZATIONAL OBJECTIVES (500 chars):</a:t>
            </a:r>
          </a:p>
          <a:p>
            <a:r>
              <a:t>Intel's organizational objectives prioritize strategic focus on high-growth, profitable product lines that deliver customer value and market leadership. Key imperatives include: (1) Achieving $10B operational cost savings through portfolio rationalization and efficiency, (2) Focusing R&amp;D investment on AI, edge computing, and process technology leadership, (3) Delivering predictable product cadence in core CPU/GPU markets, (4) Maximizing 18A manufacturing utilization for flagship products, (5) Simplifying product portfolio to improve execution, (6) Customer-first approach solving relevant problems, (7) Results-driven culture eliminating underperforming assets.</a:t>
            </a:r>
          </a:p>
          <a:p>
            <a:endParaRPr/>
          </a:p>
          <a:p>
            <a:r>
              <a:t>PRODUCT LINES (500 chars):</a:t>
            </a:r>
          </a:p>
          <a:p>
            <a:r>
              <a:t>Intel's strategic product lines post-Optane elimination: (1) Core Ultra Series - AI PC flagship driving consumer growth, (2) Core mainstream processors - volume PC market, (3) Xeon Scalable/Xeon 6 - data center revenue anchor, (4) Gaudi/Habana - AI training/inference accelerators, (5) Arc graphics - GPU market entry, (6) Atom/embedded - IoT/edge computing, (7) Mobileye - autonomous vehicle technology, (8) Foundry Services - external manufacturing revenue, (9) Networking products - Ethernet infrastructure, (10) CXL memory solutions - next-gen memory architecture replacing Optane. Focus: AI-first, data-centric, process leadership.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104650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582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0602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8673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739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609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0306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45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7028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7198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1627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9615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1231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1686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4493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7215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28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400943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0071C5"/>
                </a:solidFill>
              </a:defRPr>
            </a:pPr>
            <a:r>
              <a:t>NEW PRODUCT INTRODUCTION</a:t>
            </a:r>
          </a:p>
        </p:txBody>
      </p:sp>
      <p:sp>
        <p:nvSpPr>
          <p:cNvPr id="4" name="Rectangle 3"/>
          <p:cNvSpPr/>
          <p:nvPr/>
        </p:nvSpPr>
        <p:spPr>
          <a:xfrm>
            <a:off x="1371600" y="1828800"/>
            <a:ext cx="6400800" cy="914400"/>
          </a:xfrm>
          <a:prstGeom prst="rect">
            <a:avLst/>
          </a:prstGeom>
          <a:solidFill>
            <a:srgbClr val="90EE90"/>
          </a:solidFill>
          <a:ln w="508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003D5B"/>
                </a:solidFill>
              </a:defRPr>
            </a:pPr>
            <a:r>
              <a:t>Intel Core Ultra X AI Creator Edition</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0071C5"/>
                </a:solidFill>
              </a:defRPr>
            </a:pPr>
            <a:r>
              <a:t>Target Launch: Q4 2026</a:t>
            </a:r>
          </a:p>
        </p:txBody>
      </p:sp>
      <p:sp>
        <p:nvSpPr>
          <p:cNvPr id="7" name="TextBox 6"/>
          <p:cNvSpPr txBox="1"/>
          <p:nvPr/>
        </p:nvSpPr>
        <p:spPr>
          <a:xfrm>
            <a:off x="958645" y="3463413"/>
            <a:ext cx="4281948" cy="2653675"/>
          </a:xfrm>
          <a:prstGeom prst="rect">
            <a:avLst/>
          </a:prstGeom>
          <a:noFill/>
        </p:spPr>
        <p:txBody>
          <a:bodyPr wrap="square">
            <a:spAutoFit/>
          </a:bodyPr>
          <a:lstStyle/>
          <a:p>
            <a:pPr>
              <a:lnSpc>
                <a:spcPct val="140000"/>
              </a:lnSpc>
              <a:defRPr sz="1600">
                <a:solidFill>
                  <a:srgbClr val="282828"/>
                </a:solidFill>
              </a:defRPr>
            </a:pPr>
            <a:r>
              <a:rPr sz="1200" b="1" dirty="0"/>
              <a:t>Strategic Focus:</a:t>
            </a:r>
          </a:p>
          <a:p>
            <a:pPr>
              <a:lnSpc>
                <a:spcPct val="140000"/>
              </a:lnSpc>
              <a:defRPr sz="1600">
                <a:solidFill>
                  <a:srgbClr val="282828"/>
                </a:solidFill>
              </a:defRPr>
            </a:pPr>
            <a:r>
              <a:rPr sz="1200" b="1" dirty="0"/>
              <a:t>• Capture professional content creator market</a:t>
            </a:r>
          </a:p>
          <a:p>
            <a:pPr>
              <a:lnSpc>
                <a:spcPct val="140000"/>
              </a:lnSpc>
              <a:defRPr sz="1600">
                <a:solidFill>
                  <a:srgbClr val="282828"/>
                </a:solidFill>
              </a:defRPr>
            </a:pPr>
            <a:r>
              <a:rPr sz="1200" b="1" dirty="0"/>
              <a:t>• Premium AI content creation processor</a:t>
            </a:r>
          </a:p>
          <a:p>
            <a:pPr>
              <a:lnSpc>
                <a:spcPct val="140000"/>
              </a:lnSpc>
              <a:defRPr sz="1600">
                <a:solidFill>
                  <a:srgbClr val="282828"/>
                </a:solidFill>
              </a:defRPr>
            </a:pPr>
            <a:r>
              <a:rPr sz="1200" b="1" dirty="0"/>
              <a:t>• Target: Video editors, 3D animators, AI developers</a:t>
            </a:r>
          </a:p>
          <a:p>
            <a:pPr>
              <a:lnSpc>
                <a:spcPct val="140000"/>
              </a:lnSpc>
              <a:defRPr sz="1600">
                <a:solidFill>
                  <a:srgbClr val="282828"/>
                </a:solidFill>
              </a:defRPr>
            </a:pPr>
            <a:r>
              <a:rPr sz="1200" b="1" dirty="0"/>
              <a:t>• Price: $1,200 - $1,800 (premium segment)</a:t>
            </a:r>
          </a:p>
          <a:p>
            <a:pPr>
              <a:lnSpc>
                <a:spcPct val="140000"/>
              </a:lnSpc>
              <a:defRPr sz="1600">
                <a:solidFill>
                  <a:srgbClr val="282828"/>
                </a:solidFill>
              </a:defRPr>
            </a:pPr>
            <a:r>
              <a:rPr sz="1200" b="1" dirty="0"/>
              <a:t>• Market Gap: Consumer-pro hybrid segment</a:t>
            </a:r>
          </a:p>
          <a:p>
            <a:pPr>
              <a:lnSpc>
                <a:spcPct val="140000"/>
              </a:lnSpc>
              <a:defRPr sz="1600">
                <a:solidFill>
                  <a:srgbClr val="282828"/>
                </a:solidFill>
              </a:defRPr>
            </a:pPr>
            <a:endParaRPr sz="1200" b="1" dirty="0"/>
          </a:p>
          <a:p>
            <a:pPr>
              <a:lnSpc>
                <a:spcPct val="140000"/>
              </a:lnSpc>
              <a:defRPr sz="1600">
                <a:solidFill>
                  <a:srgbClr val="282828"/>
                </a:solidFill>
              </a:defRPr>
            </a:pPr>
            <a:r>
              <a:rPr sz="1200" b="1" dirty="0"/>
              <a:t>Competitive Position:</a:t>
            </a:r>
          </a:p>
          <a:p>
            <a:pPr>
              <a:lnSpc>
                <a:spcPct val="140000"/>
              </a:lnSpc>
              <a:defRPr sz="1600">
                <a:solidFill>
                  <a:srgbClr val="282828"/>
                </a:solidFill>
              </a:defRPr>
            </a:pPr>
            <a:r>
              <a:rPr sz="1200" b="1" dirty="0"/>
              <a:t>• Response to AMD Ryzen AI Max+ 395 dominance</a:t>
            </a:r>
          </a:p>
          <a:p>
            <a:pPr>
              <a:lnSpc>
                <a:spcPct val="140000"/>
              </a:lnSpc>
              <a:defRPr sz="1600">
                <a:solidFill>
                  <a:srgbClr val="282828"/>
                </a:solidFill>
              </a:defRPr>
            </a:pPr>
            <a:r>
              <a:rPr sz="1200" b="1" dirty="0"/>
              <a:t>• Expand Core Ultra ecosystem into $12B creative market</a:t>
            </a:r>
          </a:p>
        </p:txBody>
      </p:sp>
      <p:sp>
        <p:nvSpPr>
          <p:cNvPr id="8" name="TextBox 7"/>
          <p:cNvSpPr txBox="1"/>
          <p:nvPr/>
        </p:nvSpPr>
        <p:spPr>
          <a:xfrm>
            <a:off x="4754880" y="4559417"/>
            <a:ext cx="3931920" cy="461665"/>
          </a:xfrm>
          <a:prstGeom prst="rect">
            <a:avLst/>
          </a:prstGeom>
          <a:noFill/>
        </p:spPr>
        <p:txBody>
          <a:bodyPr wrap="square">
            <a:spAutoFit/>
          </a:bodyPr>
          <a:lstStyle/>
          <a:p>
            <a:pPr algn="ctr">
              <a:defRPr sz="1200" i="1">
                <a:solidFill>
                  <a:srgbClr val="646464"/>
                </a:solidFill>
              </a:defRPr>
            </a:pPr>
            <a:r>
              <a:rPr dirty="0"/>
              <a:t>Aligns with Intel's vision as 'trusted performance leader' | Expanding AI PC ecosystem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0071C5"/>
                </a:solidFill>
              </a:defRPr>
            </a:pPr>
            <a:r>
              <a:t>MODIFY EXISTING PRODUCT</a:t>
            </a:r>
          </a:p>
        </p:txBody>
      </p:sp>
      <p:sp>
        <p:nvSpPr>
          <p:cNvPr id="4" name="Rectangle 3"/>
          <p:cNvSpPr/>
          <p:nvPr/>
        </p:nvSpPr>
        <p:spPr>
          <a:xfrm>
            <a:off x="1371600" y="1828800"/>
            <a:ext cx="6400800" cy="914400"/>
          </a:xfrm>
          <a:prstGeom prst="rect">
            <a:avLst/>
          </a:prstGeom>
          <a:solidFill>
            <a:srgbClr val="FFD700"/>
          </a:solidFill>
          <a:ln w="508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003D5B"/>
                </a:solidFill>
              </a:defRPr>
            </a:pPr>
            <a:r>
              <a:t>Intel Xeon 6 AI Accelerator Refresh</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0071C5"/>
                </a:solidFill>
              </a:defRPr>
            </a:pPr>
            <a:r>
              <a:t>Target Launch: Q2 2026</a:t>
            </a:r>
          </a:p>
        </p:txBody>
      </p:sp>
      <p:sp>
        <p:nvSpPr>
          <p:cNvPr id="7" name="TextBox 6"/>
          <p:cNvSpPr txBox="1"/>
          <p:nvPr/>
        </p:nvSpPr>
        <p:spPr>
          <a:xfrm>
            <a:off x="929148" y="3429000"/>
            <a:ext cx="4901381" cy="2912207"/>
          </a:xfrm>
          <a:prstGeom prst="rect">
            <a:avLst/>
          </a:prstGeom>
          <a:noFill/>
        </p:spPr>
        <p:txBody>
          <a:bodyPr wrap="square">
            <a:spAutoFit/>
          </a:bodyPr>
          <a:lstStyle/>
          <a:p>
            <a:pPr>
              <a:lnSpc>
                <a:spcPct val="140000"/>
              </a:lnSpc>
              <a:defRPr sz="1600">
                <a:solidFill>
                  <a:srgbClr val="282828"/>
                </a:solidFill>
              </a:defRPr>
            </a:pPr>
            <a:r>
              <a:rPr sz="1200" b="1" dirty="0"/>
              <a:t>Strategic Rationale:</a:t>
            </a:r>
          </a:p>
          <a:p>
            <a:pPr>
              <a:lnSpc>
                <a:spcPct val="140000"/>
              </a:lnSpc>
              <a:defRPr sz="1600">
                <a:solidFill>
                  <a:srgbClr val="282828"/>
                </a:solidFill>
              </a:defRPr>
            </a:pPr>
            <a:r>
              <a:rPr sz="1200" b="1" dirty="0"/>
              <a:t>• Respond to AMD EPYC (24%+ market share growth)</a:t>
            </a:r>
          </a:p>
          <a:p>
            <a:pPr>
              <a:lnSpc>
                <a:spcPct val="140000"/>
              </a:lnSpc>
              <a:defRPr sz="1600">
                <a:solidFill>
                  <a:srgbClr val="282828"/>
                </a:solidFill>
              </a:defRPr>
            </a:pPr>
            <a:r>
              <a:rPr sz="1200" b="1" dirty="0"/>
              <a:t>• Counter NVIDIA Grace CPU in AI inference market</a:t>
            </a:r>
          </a:p>
          <a:p>
            <a:pPr>
              <a:lnSpc>
                <a:spcPct val="140000"/>
              </a:lnSpc>
              <a:defRPr sz="1600">
                <a:solidFill>
                  <a:srgbClr val="282828"/>
                </a:solidFill>
              </a:defRPr>
            </a:pPr>
            <a:r>
              <a:rPr sz="1200" b="1" dirty="0"/>
              <a:t>• Data centers shifting to AI-first workloads</a:t>
            </a:r>
          </a:p>
          <a:p>
            <a:pPr>
              <a:lnSpc>
                <a:spcPct val="140000"/>
              </a:lnSpc>
              <a:defRPr sz="1600">
                <a:solidFill>
                  <a:srgbClr val="282828"/>
                </a:solidFill>
              </a:defRPr>
            </a:pPr>
            <a:r>
              <a:rPr sz="1200" b="1" dirty="0"/>
              <a:t>• Retain enterprise IT and cloud provider customers</a:t>
            </a:r>
          </a:p>
          <a:p>
            <a:pPr>
              <a:lnSpc>
                <a:spcPct val="140000"/>
              </a:lnSpc>
              <a:defRPr sz="1600">
                <a:solidFill>
                  <a:srgbClr val="282828"/>
                </a:solidFill>
              </a:defRPr>
            </a:pPr>
            <a:endParaRPr sz="1200" b="1" dirty="0"/>
          </a:p>
          <a:p>
            <a:pPr>
              <a:lnSpc>
                <a:spcPct val="140000"/>
              </a:lnSpc>
              <a:defRPr sz="1600">
                <a:solidFill>
                  <a:srgbClr val="282828"/>
                </a:solidFill>
              </a:defRPr>
            </a:pPr>
            <a:r>
              <a:rPr sz="1200" b="1" dirty="0"/>
              <a:t>Key Modifications:</a:t>
            </a:r>
          </a:p>
          <a:p>
            <a:pPr>
              <a:lnSpc>
                <a:spcPct val="140000"/>
              </a:lnSpc>
              <a:defRPr sz="1600">
                <a:solidFill>
                  <a:srgbClr val="282828"/>
                </a:solidFill>
              </a:defRPr>
            </a:pPr>
            <a:r>
              <a:rPr sz="1200" b="1" dirty="0"/>
              <a:t>• Integrate 150+ TOPS NPU for AI inference</a:t>
            </a:r>
          </a:p>
          <a:p>
            <a:pPr>
              <a:lnSpc>
                <a:spcPct val="140000"/>
              </a:lnSpc>
              <a:defRPr sz="1600">
                <a:solidFill>
                  <a:srgbClr val="282828"/>
                </a:solidFill>
              </a:defRPr>
            </a:pPr>
            <a:r>
              <a:rPr sz="1200" b="1" dirty="0"/>
              <a:t>• Add AMX tiles for INT8/INT4 AI models</a:t>
            </a:r>
          </a:p>
          <a:p>
            <a:pPr>
              <a:lnSpc>
                <a:spcPct val="140000"/>
              </a:lnSpc>
              <a:defRPr sz="1600">
                <a:solidFill>
                  <a:srgbClr val="282828"/>
                </a:solidFill>
              </a:defRPr>
            </a:pPr>
            <a:r>
              <a:rPr sz="1200" b="1" dirty="0"/>
              <a:t>• HBM3 memory support for AI model serving</a:t>
            </a:r>
          </a:p>
          <a:p>
            <a:pPr>
              <a:lnSpc>
                <a:spcPct val="140000"/>
              </a:lnSpc>
              <a:defRPr sz="1600">
                <a:solidFill>
                  <a:srgbClr val="282828"/>
                </a:solidFill>
              </a:defRPr>
            </a:pPr>
            <a:r>
              <a:rPr sz="1200" b="1" dirty="0"/>
              <a:t>• 30% better performance-per-watt on AI workloads</a:t>
            </a:r>
          </a:p>
        </p:txBody>
      </p:sp>
      <p:sp>
        <p:nvSpPr>
          <p:cNvPr id="8" name="TextBox 7"/>
          <p:cNvSpPr txBox="1"/>
          <p:nvPr/>
        </p:nvSpPr>
        <p:spPr>
          <a:xfrm>
            <a:off x="5461819" y="4478327"/>
            <a:ext cx="2753033" cy="461665"/>
          </a:xfrm>
          <a:prstGeom prst="rect">
            <a:avLst/>
          </a:prstGeom>
          <a:noFill/>
        </p:spPr>
        <p:txBody>
          <a:bodyPr wrap="square">
            <a:spAutoFit/>
          </a:bodyPr>
          <a:lstStyle/>
          <a:p>
            <a:pPr algn="ctr">
              <a:defRPr sz="1200" i="1">
                <a:solidFill>
                  <a:srgbClr val="646464"/>
                </a:solidFill>
              </a:defRPr>
            </a:pPr>
            <a:r>
              <a:rPr dirty="0"/>
              <a:t>Maintain $2,000-$6,000 pricing | Retain 75%+ data center market share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0F0"/>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C80000"/>
                </a:solidFill>
              </a:defRPr>
            </a:pPr>
            <a:r>
              <a:t>ELIMINATE PRODUCT</a:t>
            </a:r>
          </a:p>
        </p:txBody>
      </p:sp>
      <p:sp>
        <p:nvSpPr>
          <p:cNvPr id="4" name="Rectangle 3"/>
          <p:cNvSpPr/>
          <p:nvPr/>
        </p:nvSpPr>
        <p:spPr>
          <a:xfrm>
            <a:off x="1371600" y="1828800"/>
            <a:ext cx="6400800" cy="914400"/>
          </a:xfrm>
          <a:prstGeom prst="rect">
            <a:avLst/>
          </a:prstGeom>
          <a:solidFill>
            <a:srgbClr val="FFA0A0"/>
          </a:solidFill>
          <a:ln w="508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8B0000"/>
                </a:solidFill>
              </a:defRPr>
            </a:pPr>
            <a:r>
              <a:t>Intel Optane Persistent Memory</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8B0000"/>
                </a:solidFill>
              </a:defRPr>
            </a:pPr>
            <a:r>
              <a:t>Phase Out: Q4 2026</a:t>
            </a:r>
          </a:p>
        </p:txBody>
      </p:sp>
      <p:sp>
        <p:nvSpPr>
          <p:cNvPr id="7" name="TextBox 6"/>
          <p:cNvSpPr txBox="1"/>
          <p:nvPr/>
        </p:nvSpPr>
        <p:spPr>
          <a:xfrm>
            <a:off x="4572000" y="3488593"/>
            <a:ext cx="4252452" cy="2912207"/>
          </a:xfrm>
          <a:prstGeom prst="rect">
            <a:avLst/>
          </a:prstGeom>
          <a:noFill/>
        </p:spPr>
        <p:txBody>
          <a:bodyPr wrap="square">
            <a:spAutoFit/>
          </a:bodyPr>
          <a:lstStyle/>
          <a:p>
            <a:pPr>
              <a:lnSpc>
                <a:spcPct val="140000"/>
              </a:lnSpc>
              <a:defRPr sz="1600">
                <a:solidFill>
                  <a:srgbClr val="282828"/>
                </a:solidFill>
              </a:defRPr>
            </a:pPr>
            <a:r>
              <a:rPr sz="1200" b="1" dirty="0"/>
              <a:t>Strategic Rationale:</a:t>
            </a:r>
          </a:p>
          <a:p>
            <a:pPr>
              <a:lnSpc>
                <a:spcPct val="140000"/>
              </a:lnSpc>
              <a:defRPr sz="1600">
                <a:solidFill>
                  <a:srgbClr val="282828"/>
                </a:solidFill>
              </a:defRPr>
            </a:pPr>
            <a:r>
              <a:rPr sz="1200" b="1" dirty="0"/>
              <a:t>• Market failure: &lt;1% of Intel revenue</a:t>
            </a:r>
          </a:p>
          <a:p>
            <a:pPr>
              <a:lnSpc>
                <a:spcPct val="140000"/>
              </a:lnSpc>
              <a:defRPr sz="1600">
                <a:solidFill>
                  <a:srgbClr val="282828"/>
                </a:solidFill>
              </a:defRPr>
            </a:pPr>
            <a:r>
              <a:rPr sz="1200" b="1" dirty="0"/>
              <a:t>• Customers chose DRAM + </a:t>
            </a:r>
            <a:r>
              <a:rPr sz="1200" b="1" dirty="0" err="1"/>
              <a:t>NVMe</a:t>
            </a:r>
            <a:r>
              <a:rPr sz="1200" b="1" dirty="0"/>
              <a:t> alternatives</a:t>
            </a:r>
          </a:p>
          <a:p>
            <a:pPr>
              <a:lnSpc>
                <a:spcPct val="140000"/>
              </a:lnSpc>
              <a:defRPr sz="1600">
                <a:solidFill>
                  <a:srgbClr val="282828"/>
                </a:solidFill>
              </a:defRPr>
            </a:pPr>
            <a:r>
              <a:rPr sz="1200" b="1" dirty="0"/>
              <a:t>• CXL memory architecture superior replacement</a:t>
            </a:r>
          </a:p>
          <a:p>
            <a:pPr>
              <a:lnSpc>
                <a:spcPct val="140000"/>
              </a:lnSpc>
              <a:defRPr sz="1600">
                <a:solidFill>
                  <a:srgbClr val="282828"/>
                </a:solidFill>
              </a:defRPr>
            </a:pPr>
            <a:r>
              <a:rPr sz="1200" b="1" dirty="0"/>
              <a:t>• High cost ($4K+ per module) limiting adoption</a:t>
            </a:r>
          </a:p>
          <a:p>
            <a:pPr>
              <a:lnSpc>
                <a:spcPct val="140000"/>
              </a:lnSpc>
              <a:defRPr sz="1600">
                <a:solidFill>
                  <a:srgbClr val="282828"/>
                </a:solidFill>
              </a:defRPr>
            </a:pPr>
            <a:endParaRPr sz="1200" b="1" dirty="0"/>
          </a:p>
          <a:p>
            <a:pPr>
              <a:lnSpc>
                <a:spcPct val="140000"/>
              </a:lnSpc>
              <a:defRPr sz="1600">
                <a:solidFill>
                  <a:srgbClr val="282828"/>
                </a:solidFill>
              </a:defRPr>
            </a:pPr>
            <a:r>
              <a:rPr sz="1200" b="1" dirty="0"/>
              <a:t>Financial Impact:</a:t>
            </a:r>
          </a:p>
          <a:p>
            <a:pPr>
              <a:lnSpc>
                <a:spcPct val="140000"/>
              </a:lnSpc>
              <a:defRPr sz="1600">
                <a:solidFill>
                  <a:srgbClr val="282828"/>
                </a:solidFill>
              </a:defRPr>
            </a:pPr>
            <a:r>
              <a:rPr sz="1200" b="1" dirty="0"/>
              <a:t>• Eliminate $800M annual losses</a:t>
            </a:r>
          </a:p>
          <a:p>
            <a:pPr>
              <a:lnSpc>
                <a:spcPct val="140000"/>
              </a:lnSpc>
              <a:defRPr sz="1600">
                <a:solidFill>
                  <a:srgbClr val="282828"/>
                </a:solidFill>
              </a:defRPr>
            </a:pPr>
            <a:r>
              <a:rPr sz="1200" b="1" dirty="0"/>
              <a:t>• Reallocate $500M R&amp;D to AI processor development</a:t>
            </a:r>
          </a:p>
          <a:p>
            <a:pPr>
              <a:lnSpc>
                <a:spcPct val="140000"/>
              </a:lnSpc>
              <a:defRPr sz="1600">
                <a:solidFill>
                  <a:srgbClr val="282828"/>
                </a:solidFill>
              </a:defRPr>
            </a:pPr>
            <a:r>
              <a:rPr sz="1200" b="1" dirty="0"/>
              <a:t>• Free manufacturing capacity for 18A production</a:t>
            </a:r>
          </a:p>
          <a:p>
            <a:pPr>
              <a:lnSpc>
                <a:spcPct val="140000"/>
              </a:lnSpc>
              <a:defRPr sz="1600">
                <a:solidFill>
                  <a:srgbClr val="282828"/>
                </a:solidFill>
              </a:defRPr>
            </a:pPr>
            <a:r>
              <a:rPr sz="1200" b="1" dirty="0"/>
              <a:t>• Support Intel's $10B cost reduction goal</a:t>
            </a:r>
          </a:p>
        </p:txBody>
      </p:sp>
      <p:sp>
        <p:nvSpPr>
          <p:cNvPr id="8" name="TextBox 7"/>
          <p:cNvSpPr txBox="1"/>
          <p:nvPr/>
        </p:nvSpPr>
        <p:spPr>
          <a:xfrm>
            <a:off x="533400" y="4483031"/>
            <a:ext cx="3025877" cy="461665"/>
          </a:xfrm>
          <a:prstGeom prst="rect">
            <a:avLst/>
          </a:prstGeom>
          <a:noFill/>
        </p:spPr>
        <p:txBody>
          <a:bodyPr wrap="square">
            <a:spAutoFit/>
          </a:bodyPr>
          <a:lstStyle/>
          <a:p>
            <a:pPr algn="ctr">
              <a:defRPr sz="1200" i="1">
                <a:solidFill>
                  <a:srgbClr val="646464"/>
                </a:solidFill>
              </a:defRPr>
            </a:pPr>
            <a:r>
              <a:rPr dirty="0"/>
              <a:t>3-year customer support | Transition to CXL-based memory solutions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5</TotalTime>
  <Words>2420</Words>
  <Application>Microsoft Office PowerPoint</Application>
  <PresentationFormat>On-screen Show (4:3)</PresentationFormat>
  <Paragraphs>156</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Corbel</vt:lpstr>
      <vt:lpstr>Parallax</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Samuel Sierra</cp:lastModifiedBy>
  <cp:revision>3</cp:revision>
  <dcterms:created xsi:type="dcterms:W3CDTF">2013-01-27T09:14:16Z</dcterms:created>
  <dcterms:modified xsi:type="dcterms:W3CDTF">2026-01-28T00:03:25Z</dcterms:modified>
  <cp:category/>
</cp:coreProperties>
</file>
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26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7865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PACKAGING ANALYSIS: INTEL CORE ULTRA SERIES 3 ===</a:t>
            </a:r>
          </a:p>
          <a:p>
            <a:endParaRPr/>
          </a:p>
          <a:p>
            <a:r>
              <a:t>PHYSICAL PACKAGING OVERVIEW:</a:t>
            </a:r>
          </a:p>
          <a:p>
            <a:endParaRPr/>
          </a:p>
          <a:p>
            <a:r>
              <a:t>Product Box Design:</a:t>
            </a:r>
          </a:p>
          <a:p>
            <a:r>
              <a:t>Intel Core Ultra Series 3 processors come in a premium rectangular retail box featuring Intel's signature blue gradient design. The packaging prominently displays the "Core Ultra Series 3" branding with the new Intel logo, 18A process technology badge, and "Made in USA" designation. The box dimensions are optimized for retail shelf placement while maintaining a premium aesthetic that positions the product as a flagship offering.</a:t>
            </a:r>
          </a:p>
          <a:p>
            <a:endParaRPr/>
          </a:p>
          <a:p>
            <a:r>
              <a:t>Materials &amp; Sustainability:</a:t>
            </a:r>
          </a:p>
          <a:p>
            <a:r>
              <a:t>The packaging is constructed from eco-friendly, recyclable cardboard materials, aligning with Intel's 2030 sustainability goals. Inside, the processor is secured in a protective foam insert with an anti-static tray to prevent damage during shipping and handling. The box includes a quick start guide, warranty documentation, and Intel Inside® branding materials. The packaging design reduces plastic usage by 40% compared to previous generations.</a:t>
            </a:r>
          </a:p>
          <a:p>
            <a:endParaRPr/>
          </a:p>
          <a:p>
            <a:r>
              <a:t>Visual Identity:</a:t>
            </a:r>
          </a:p>
          <a:p>
            <a:r>
              <a:t>The box features a modern, minimalist design with clean lines and a professional appearance. A holographic security seal on the box flap prevents counterfeiting and ensures product authenticity. The front panel displays key specifications including core count, clock speeds, and NPU performance (50 TOPS). The side panels include SKU information, regulatory certifications, and a retail-ready hanging tab for store displays.</a:t>
            </a:r>
          </a:p>
          <a:p>
            <a:endParaRPr/>
          </a:p>
          <a:p>
            <a:r>
              <a:t>Unboxing Experience:</a:t>
            </a:r>
          </a:p>
          <a:p>
            <a:r>
              <a:t>The packaging is designed to create a premium unboxing experience for enthusiast customers. The box opens from the top with a magnetic closure, revealing the processor in its protective tray. The layered design separates documentation from the product, creating a sense of anticipation. The interior includes subtle Intel branding and the tagline "Unleashing AI Performance" embossed on the tray.</a:t>
            </a:r>
          </a:p>
          <a:p>
            <a:endParaRPr/>
          </a:p>
          <a:p>
            <a:r>
              <a:t>---</a:t>
            </a:r>
          </a:p>
          <a:p>
            <a:endParaRPr/>
          </a:p>
          <a:p>
            <a:r>
              <a:t>ONLINE PACKAGING &amp; PRESENCE:</a:t>
            </a:r>
          </a:p>
          <a:p>
            <a:endParaRPr/>
          </a:p>
          <a:p>
            <a:r>
              <a:t>Official Intel Website (Intel.com):</a:t>
            </a:r>
          </a:p>
          <a:p>
            <a:r>
              <a:t>The Intel Core Ultra Series 3 product page features high-resolution imagery showcasing the processor and packaging from multiple angles. An interactive 360-degree viewer allows customers to examine the product virtually. The page includes detailed technical specifications, performance benchmarks, and comparison tools against competing processors. A prominent "Where to Buy" button links to authorized retailers including Amazon, Newegg, Best Buy, and direct OEM partners.</a:t>
            </a:r>
          </a:p>
          <a:p>
            <a:endParaRPr/>
          </a:p>
          <a:p>
            <a:r>
              <a:t>Product Visualization:</a:t>
            </a:r>
          </a:p>
          <a:p>
            <a:r>
              <a:t>The online presentation includes professional photography of the retail box, close-ups of the processor die, and lifestyle imagery showing the product integrated into gaming PCs and workstations. The Intel website uses a clean, white background with Intel blue accents to maintain brand consistency. Product badges highlight key features: "AI PC," "18A Technology," "Made in USA," and "50 TOPS NPU Performance."</a:t>
            </a:r>
          </a:p>
          <a:p>
            <a:endParaRPr/>
          </a:p>
          <a:p>
            <a:r>
              <a:t>OEM Partner Integration:</a:t>
            </a:r>
          </a:p>
          <a:p>
            <a:r>
              <a:t>Dell, HP, and Lenovo feature the Core Ultra Series 3 prominently on their product configurator pages. Each OEM presents the processor with Intel-provided marketing assets including logos, badges, and performance claims. Online PC builders allow customers to select Core Ultra Series 3 as a configuration option, with real-time pricing and availability displayed. OEM sites include customer reviews, technical support links, and warranty information.</a:t>
            </a:r>
          </a:p>
          <a:p>
            <a:endParaRPr/>
          </a:p>
          <a:p>
            <a:r>
              <a:t>E-Commerce Platforms:</a:t>
            </a:r>
          </a:p>
          <a:p>
            <a:r>
              <a:t>On Amazon, Newegg, and Best Buy, the Core Ultra Series 3 listings feature multiple product images including the retail box, processor close-ups, and installation guides. Product descriptions emphasize the AI PC capabilities, offline AI processing, and Made in USA manufacturing. Listings include technical specifications tables, compatibility information, and customer Q&amp;A sections. The "Intel Inside" badge appears prominently on all e-commerce product pages.</a:t>
            </a:r>
          </a:p>
          <a:p>
            <a:endParaRPr/>
          </a:p>
          <a:p>
            <a:r>
              <a:t>Digital Marketing Assets:</a:t>
            </a:r>
          </a:p>
          <a:p>
            <a:r>
              <a:t>Intel provides OEMs and retailers with a comprehensive digital asset library including product images, marketing copy, technical specifications, logos, and badges. These assets ensure consistent brand presentation across all online channels. The digital packaging includes banner ads, social media graphics, and email marketing templates featuring the Core Ultra Series 3.</a:t>
            </a:r>
          </a:p>
          <a:p>
            <a:endParaRPr/>
          </a:p>
          <a:p>
            <a:r>
              <a:t>Interactive Features:</a:t>
            </a:r>
          </a:p>
          <a:p>
            <a:r>
              <a:t>Advanced online features include:</a:t>
            </a:r>
          </a:p>
          <a:p>
            <a:r>
              <a:t>- Product comparison tools (vs AMD Ryzen, Qualcomm Snapdragon)</a:t>
            </a:r>
          </a:p>
          <a:p>
            <a:r>
              <a:t>- Performance calculators for specific workloads</a:t>
            </a:r>
          </a:p>
          <a:p>
            <a:r>
              <a:t>- Compatibility checkers for motherboards and systems</a:t>
            </a:r>
          </a:p>
          <a:p>
            <a:r>
              <a:t>- Live chat support integration</a:t>
            </a:r>
          </a:p>
          <a:p>
            <a:r>
              <a:t>- Video tutorials and installation guides</a:t>
            </a:r>
          </a:p>
          <a:p>
            <a:r>
              <a:t>- Customer testimonials and professional reviews</a:t>
            </a:r>
          </a:p>
          <a:p>
            <a:r>
              <a:t>- Real-time inventory tracking across retailers</a:t>
            </a:r>
          </a:p>
          <a:p>
            <a:endParaRPr/>
          </a:p>
          <a:p>
            <a:r>
              <a:t>---</a:t>
            </a:r>
          </a:p>
          <a:p>
            <a:endParaRPr/>
          </a:p>
          <a:p>
            <a:r>
              <a:t>PACKAGING STRATEGY ANALYSIS:</a:t>
            </a:r>
          </a:p>
          <a:p>
            <a:endParaRPr/>
          </a:p>
          <a:p>
            <a:r>
              <a:t>Target Market Alignment:</a:t>
            </a:r>
          </a:p>
          <a:p>
            <a:r>
              <a:t>The premium packaging design targets IT decision-makers (ages 25-54, income $75K+) and tech enthusiasts who value quality and innovation. The clean, professional aesthetic appeals to business users while the AI PC branding attracts early adopters interested in cutting-edge technology.</a:t>
            </a:r>
          </a:p>
          <a:p>
            <a:endParaRPr/>
          </a:p>
          <a:p>
            <a:r>
              <a:t>Competitive Positioning:</a:t>
            </a:r>
          </a:p>
          <a:p>
            <a:r>
              <a:t>Intel's packaging differentiates from AMD's more gaming-focused designs by emphasizing professional applications and AI capabilities. The "Made in USA" badge provides a unique selling point against international competitors. The premium materials justify the $350-$500 price point.</a:t>
            </a:r>
          </a:p>
          <a:p>
            <a:endParaRPr/>
          </a:p>
          <a:p>
            <a:r>
              <a:t>Sustainability Messaging:</a:t>
            </a:r>
          </a:p>
          <a:p>
            <a:r>
              <a:t>The eco-friendly packaging aligns with Intel's RISE strategy and 2030 goals (net-zero emissions, 100% renewable energy). This appeals to environmentally conscious corporate buyers and enhances Intel's brand reputation.</a:t>
            </a:r>
          </a:p>
          <a:p>
            <a:endParaRPr/>
          </a:p>
          <a:p>
            <a:r>
              <a:t>Online-Offline Integration:</a:t>
            </a:r>
          </a:p>
          <a:p>
            <a:r>
              <a:t>QR codes on the physical packaging link to Intel.com product pages, creating a seamless online-offline experience. Customers can scan to access installation videos, driver downloads, and warranty registration. The consistent visual identity across physical and digital touchpoints reinforces brand recognition.</a:t>
            </a:r>
          </a:p>
          <a:p>
            <a:endParaRPr/>
          </a:p>
          <a:p>
            <a:r>
              <a:t>Retail Channel Optimization:</a:t>
            </a:r>
          </a:p>
          <a:p>
            <a:r>
              <a:t>The packaging design works equally well for:</a:t>
            </a:r>
          </a:p>
          <a:p>
            <a:r>
              <a:t>- Traditional retail (Best Buy, Micro Center) with hanging tabs and shelf-ready design</a:t>
            </a:r>
          </a:p>
          <a:p>
            <a:r>
              <a:t>- E-commerce (Amazon) with photography-friendly angles and protective shipping box</a:t>
            </a:r>
          </a:p>
          <a:p>
            <a:r>
              <a:t>- OEM integration (Dell, HP) with co-branded marketing materials</a:t>
            </a:r>
          </a:p>
          <a:p>
            <a:r>
              <a:t>- System integrators with bulk packaging options for B2B sales</a:t>
            </a:r>
          </a:p>
          <a:p>
            <a:endParaRPr/>
          </a:p>
          <a:p>
            <a:r>
              <a:t>---</a:t>
            </a:r>
          </a:p>
          <a:p>
            <a:endParaRPr/>
          </a:p>
          <a:p>
            <a:r>
              <a:t>KEY PACKAGING SPECIFICATIONS:</a:t>
            </a:r>
          </a:p>
          <a:p>
            <a:endParaRPr/>
          </a:p>
          <a:p>
            <a:r>
              <a:t>Physical Box Dimensions: 7" x 5" x 2" (178mm x 127mm x 51mm)</a:t>
            </a:r>
          </a:p>
          <a:p>
            <a:r>
              <a:t>Weight: 8.5 oz (241g) including packaging</a:t>
            </a:r>
          </a:p>
          <a:p>
            <a:r>
              <a:t>Materials: 85% recyclable cardboard, 10% protective foam, 5% anti-static tray</a:t>
            </a:r>
          </a:p>
          <a:p>
            <a:r>
              <a:t>Security Features: Holographic seal, tamper-evident tape, authentication QR code</a:t>
            </a:r>
          </a:p>
          <a:p>
            <a:r>
              <a:t>Included Items: Processor, installation guide, warranty card, Intel Inside sticker</a:t>
            </a:r>
          </a:p>
          <a:p>
            <a:r>
              <a:t>Retail Price: $349 (base SKU) to $489 (X9 SKU)</a:t>
            </a:r>
          </a:p>
          <a:p>
            <a:endParaRPr/>
          </a:p>
          <a:p>
            <a:r>
              <a:t>Online Assets Available:</a:t>
            </a:r>
          </a:p>
          <a:p>
            <a:r>
              <a:t>- High-res product images (4K resolution, 10+ angles)</a:t>
            </a:r>
          </a:p>
          <a:p>
            <a:r>
              <a:t>- 360-degree interactive viewer</a:t>
            </a:r>
          </a:p>
          <a:p>
            <a:r>
              <a:t>- Unboxing video (Intel YouTube channel)</a:t>
            </a:r>
          </a:p>
          <a:p>
            <a:r>
              <a:t>- Installation tutorial (5 minutes, step-by-step)</a:t>
            </a:r>
          </a:p>
          <a:p>
            <a:r>
              <a:t>- Technical specification PDF</a:t>
            </a:r>
          </a:p>
          <a:p>
            <a:r>
              <a:t>- Compatibility database (motherboards, systems)</a:t>
            </a:r>
          </a:p>
          <a:p>
            <a:r>
              <a:t>- Performance benchmark charts</a:t>
            </a:r>
          </a:p>
          <a:p>
            <a:r>
              <a:t>- Customer review aggregation</a:t>
            </a:r>
          </a:p>
          <a:p>
            <a:endParaRPr/>
          </a:p>
          <a:p>
            <a:r>
              <a:t>---</a:t>
            </a:r>
          </a:p>
          <a:p>
            <a:endParaRPr/>
          </a:p>
          <a:p>
            <a:r>
              <a:t>PACKAGING INNOVATION HIGHLIGHTS:</a:t>
            </a:r>
          </a:p>
          <a:p>
            <a:endParaRPr/>
          </a:p>
          <a:p>
            <a:r>
              <a:t>1. Sustainability: 40% plastic reduction, 85% recyclable materials</a:t>
            </a:r>
          </a:p>
          <a:p>
            <a:r>
              <a:t>2. Security: Holographic seal prevents counterfeiting</a:t>
            </a:r>
          </a:p>
          <a:p>
            <a:r>
              <a:t>3. Premium Experience: Magnetic closure, embossed branding</a:t>
            </a:r>
          </a:p>
          <a:p>
            <a:r>
              <a:t>4. Digital Integration: QR codes link to online resources</a:t>
            </a:r>
          </a:p>
          <a:p>
            <a:r>
              <a:t>5. Retail Ready: Hanging tab, shelf-optimized dimensions</a:t>
            </a:r>
          </a:p>
          <a:p>
            <a:r>
              <a:t>6. Consistent Branding: Intel blue across all touchpoints</a:t>
            </a:r>
          </a:p>
          <a:p>
            <a:r>
              <a:t>7. AI PC Messaging: Prominent badging and feature callouts</a:t>
            </a:r>
          </a:p>
          <a:p>
            <a:r>
              <a:t>8. Made in USA: Clear country-of-origin labeling</a:t>
            </a:r>
          </a:p>
          <a:p>
            <a:endParaRPr/>
          </a:p>
          <a:p>
            <a:r>
              <a:t>---</a:t>
            </a:r>
          </a:p>
          <a:p>
            <a:endParaRPr/>
          </a:p>
          <a:p>
            <a:r>
              <a:t>EXAMPLES TO REFERENCE:</a:t>
            </a:r>
          </a:p>
          <a:p>
            <a:r>
              <a:t>- Physical packaging resembles premium smartphone packaging (Apple iPhone-style unboxing)</a:t>
            </a:r>
          </a:p>
          <a:p>
            <a:r>
              <a:t>- Online presence mirrors NVIDIA RTX graphics card product pages (interactive, spec-heavy)</a:t>
            </a:r>
          </a:p>
          <a:p>
            <a:r>
              <a:t>- E-commerce listings follow Amazon Best Practices for tech products</a:t>
            </a:r>
          </a:p>
          <a:p>
            <a:r>
              <a:t>- Digital assets align with Intel's CES 2026 launch campaign materials</a:t>
            </a:r>
          </a:p>
          <a:p>
            <a:endParaRPr/>
          </a:p>
          <a:p>
            <a:r>
              <a:t>This packaging strategy positions Intel Core Ultra Series 3 as a premium, AI-focused product while maintaining sustainability commitments and ensuring consistent brand presentation across all customer touchpoints.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none">
            <a:spAutoFit/>
          </a:bodyPr>
          <a:lstStyle/>
          <a:p>
            <a:pPr algn="ctr">
              <a:defRPr sz="4800" b="1">
                <a:solidFill>
                  <a:srgbClr val="003D5B"/>
                </a:solidFill>
              </a:defRPr>
            </a:pPr>
            <a:r>
              <a:t>PACKAGING</a:t>
            </a:r>
          </a:p>
        </p:txBody>
      </p:sp>
      <p:sp>
        <p:nvSpPr>
          <p:cNvPr id="3" name="TextBox 2"/>
          <p:cNvSpPr txBox="1"/>
          <p:nvPr/>
        </p:nvSpPr>
        <p:spPr>
          <a:xfrm>
            <a:off x="457200" y="868680"/>
            <a:ext cx="8229600" cy="365760"/>
          </a:xfrm>
          <a:prstGeom prst="rect">
            <a:avLst/>
          </a:prstGeom>
          <a:noFill/>
        </p:spPr>
        <p:txBody>
          <a:bodyPr wrap="none">
            <a:spAutoFit/>
          </a:bodyPr>
          <a:lstStyle/>
          <a:p>
            <a:pPr algn="ctr">
              <a:defRPr sz="1800">
                <a:solidFill>
                  <a:srgbClr val="0071C5"/>
                </a:solidFill>
              </a:defRPr>
            </a:pPr>
            <a:r>
              <a:t>Intel Core Ultra Series 3 Processors | Product Packaging Analysis</a:t>
            </a:r>
          </a:p>
        </p:txBody>
      </p:sp>
      <p:sp>
        <p:nvSpPr>
          <p:cNvPr id="4" name="Rectangle 3"/>
          <p:cNvSpPr/>
          <p:nvPr/>
        </p:nvSpPr>
        <p:spPr>
          <a:xfrm>
            <a:off x="685800" y="1463040"/>
            <a:ext cx="3657600" cy="457200"/>
          </a:xfrm>
          <a:prstGeom prst="rect">
            <a:avLst/>
          </a:prstGeom>
          <a:solidFill>
            <a:srgbClr val="0071C5"/>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508760"/>
            <a:ext cx="3657600" cy="365760"/>
          </a:xfrm>
          <a:prstGeom prst="rect">
            <a:avLst/>
          </a:prstGeom>
          <a:noFill/>
        </p:spPr>
        <p:txBody>
          <a:bodyPr wrap="none">
            <a:spAutoFit/>
          </a:bodyPr>
          <a:lstStyle/>
          <a:p>
            <a:pPr algn="ctr">
              <a:defRPr sz="1800" b="1">
                <a:solidFill>
                  <a:srgbClr val="FFFFFF"/>
                </a:solidFill>
              </a:defRPr>
            </a:pPr>
            <a:r>
              <a:t>📦 PHYSICAL PACKAGING</a:t>
            </a:r>
          </a:p>
        </p:txBody>
      </p:sp>
      <p:sp>
        <p:nvSpPr>
          <p:cNvPr id="6" name="TextBox 5"/>
          <p:cNvSpPr txBox="1"/>
          <p:nvPr/>
        </p:nvSpPr>
        <p:spPr>
          <a:xfrm>
            <a:off x="685800" y="2011680"/>
            <a:ext cx="3657600" cy="1828800"/>
          </a:xfrm>
          <a:prstGeom prst="rect">
            <a:avLst/>
          </a:prstGeom>
          <a:noFill/>
        </p:spPr>
        <p:txBody>
          <a:bodyPr wrap="square">
            <a:spAutoFit/>
          </a:bodyPr>
          <a:lstStyle/>
          <a:p>
            <a:pPr>
              <a:lnSpc>
                <a:spcPct val="130000"/>
              </a:lnSpc>
              <a:defRPr sz="1100">
                <a:solidFill>
                  <a:srgbClr val="282828"/>
                </a:solidFill>
              </a:defRPr>
            </a:pPr>
            <a:r>
              <a:t>Box Design:</a:t>
            </a:r>
          </a:p>
          <a:p>
            <a:pPr>
              <a:lnSpc>
                <a:spcPct val="130000"/>
              </a:lnSpc>
              <a:defRPr sz="1100">
                <a:solidFill>
                  <a:srgbClr val="282828"/>
                </a:solidFill>
              </a:defRPr>
            </a:pPr>
            <a:r>
              <a:t>• Premium rectangular box design</a:t>
            </a:r>
          </a:p>
          <a:p>
            <a:pPr>
              <a:lnSpc>
                <a:spcPct val="130000"/>
              </a:lnSpc>
              <a:defRPr sz="1100">
                <a:solidFill>
                  <a:srgbClr val="282828"/>
                </a:solidFill>
              </a:defRPr>
            </a:pPr>
            <a:r>
              <a:t>• Intel blue gradient background</a:t>
            </a:r>
          </a:p>
          <a:p>
            <a:pPr>
              <a:lnSpc>
                <a:spcPct val="130000"/>
              </a:lnSpc>
              <a:defRPr sz="1100">
                <a:solidFill>
                  <a:srgbClr val="282828"/>
                </a:solidFill>
              </a:defRPr>
            </a:pPr>
            <a:r>
              <a:t>• Core Ultra Series 3 branding</a:t>
            </a:r>
          </a:p>
          <a:p>
            <a:pPr>
              <a:lnSpc>
                <a:spcPct val="130000"/>
              </a:lnSpc>
              <a:defRPr sz="1100">
                <a:solidFill>
                  <a:srgbClr val="282828"/>
                </a:solidFill>
              </a:defRPr>
            </a:pPr>
            <a:r>
              <a:t>• 18A process technology badge</a:t>
            </a:r>
          </a:p>
          <a:p>
            <a:pPr>
              <a:lnSpc>
                <a:spcPct val="130000"/>
              </a:lnSpc>
              <a:defRPr sz="1100">
                <a:solidFill>
                  <a:srgbClr val="282828"/>
                </a:solidFill>
              </a:defRPr>
            </a:pPr>
            <a:r>
              <a:t>• "Made in USA" prominent display</a:t>
            </a:r>
          </a:p>
          <a:p>
            <a:pPr>
              <a:lnSpc>
                <a:spcPct val="130000"/>
              </a:lnSpc>
              <a:defRPr sz="1100">
                <a:solidFill>
                  <a:srgbClr val="282828"/>
                </a:solidFill>
              </a:defRPr>
            </a:pPr>
            <a:endParaRPr/>
          </a:p>
          <a:p>
            <a:pPr>
              <a:lnSpc>
                <a:spcPct val="130000"/>
              </a:lnSpc>
              <a:defRPr sz="1100">
                <a:solidFill>
                  <a:srgbClr val="282828"/>
                </a:solidFill>
              </a:defRPr>
            </a:pPr>
            <a:r>
              <a:t>Materials:</a:t>
            </a:r>
          </a:p>
          <a:p>
            <a:pPr>
              <a:lnSpc>
                <a:spcPct val="130000"/>
              </a:lnSpc>
              <a:defRPr sz="1100">
                <a:solidFill>
                  <a:srgbClr val="282828"/>
                </a:solidFill>
              </a:defRPr>
            </a:pPr>
            <a:r>
              <a:t>• Eco-friendly recyclable cardboard</a:t>
            </a:r>
          </a:p>
          <a:p>
            <a:pPr>
              <a:lnSpc>
                <a:spcPct val="130000"/>
              </a:lnSpc>
              <a:defRPr sz="1100">
                <a:solidFill>
                  <a:srgbClr val="282828"/>
                </a:solidFill>
              </a:defRPr>
            </a:pPr>
            <a:r>
              <a:t>• Protective foam insert</a:t>
            </a:r>
          </a:p>
          <a:p>
            <a:pPr>
              <a:lnSpc>
                <a:spcPct val="130000"/>
              </a:lnSpc>
              <a:defRPr sz="1100">
                <a:solidFill>
                  <a:srgbClr val="282828"/>
                </a:solidFill>
              </a:defRPr>
            </a:pPr>
            <a:r>
              <a:t>• Anti-static processor tray</a:t>
            </a:r>
          </a:p>
          <a:p>
            <a:pPr>
              <a:lnSpc>
                <a:spcPct val="130000"/>
              </a:lnSpc>
              <a:defRPr sz="1100">
                <a:solidFill>
                  <a:srgbClr val="282828"/>
                </a:solidFill>
              </a:defRPr>
            </a:pPr>
            <a:r>
              <a:t>• Quick start guide included</a:t>
            </a:r>
          </a:p>
          <a:p>
            <a:pPr>
              <a:lnSpc>
                <a:spcPct val="130000"/>
              </a:lnSpc>
              <a:defRPr sz="1100">
                <a:solidFill>
                  <a:srgbClr val="282828"/>
                </a:solidFill>
              </a:defRPr>
            </a:pPr>
            <a:r>
              <a:t>• Warranty documentation</a:t>
            </a:r>
          </a:p>
          <a:p>
            <a:pPr>
              <a:lnSpc>
                <a:spcPct val="130000"/>
              </a:lnSpc>
              <a:defRPr sz="1100">
                <a:solidFill>
                  <a:srgbClr val="282828"/>
                </a:solidFill>
              </a:defRPr>
            </a:pPr>
            <a:endParaRPr/>
          </a:p>
          <a:p>
            <a:pPr>
              <a:lnSpc>
                <a:spcPct val="130000"/>
              </a:lnSpc>
              <a:defRPr sz="1100">
                <a:solidFill>
                  <a:srgbClr val="282828"/>
                </a:solidFill>
              </a:defRPr>
            </a:pPr>
            <a:r>
              <a:t>Visual Identity:</a:t>
            </a:r>
          </a:p>
          <a:p>
            <a:pPr>
              <a:lnSpc>
                <a:spcPct val="130000"/>
              </a:lnSpc>
              <a:defRPr sz="1100">
                <a:solidFill>
                  <a:srgbClr val="282828"/>
                </a:solidFill>
              </a:defRPr>
            </a:pPr>
            <a:r>
              <a:t>• Modern, minimalist aesthetic</a:t>
            </a:r>
          </a:p>
          <a:p>
            <a:pPr>
              <a:lnSpc>
                <a:spcPct val="130000"/>
              </a:lnSpc>
              <a:defRPr sz="1100">
                <a:solidFill>
                  <a:srgbClr val="282828"/>
                </a:solidFill>
              </a:defRPr>
            </a:pPr>
            <a:r>
              <a:t>• Holographic security seal</a:t>
            </a:r>
          </a:p>
          <a:p>
            <a:pPr>
              <a:lnSpc>
                <a:spcPct val="130000"/>
              </a:lnSpc>
              <a:defRPr sz="1100">
                <a:solidFill>
                  <a:srgbClr val="282828"/>
                </a:solidFill>
              </a:defRPr>
            </a:pPr>
            <a:r>
              <a:t>• SKU and specification labels</a:t>
            </a:r>
          </a:p>
          <a:p>
            <a:pPr>
              <a:lnSpc>
                <a:spcPct val="130000"/>
              </a:lnSpc>
              <a:defRPr sz="1100">
                <a:solidFill>
                  <a:srgbClr val="282828"/>
                </a:solidFill>
              </a:defRPr>
            </a:pPr>
            <a:r>
              <a:t>• Retail-ready hanging tab</a:t>
            </a:r>
          </a:p>
        </p:txBody>
      </p:sp>
      <p:sp>
        <p:nvSpPr>
          <p:cNvPr id="7" name="Rectangle 6"/>
          <p:cNvSpPr/>
          <p:nvPr/>
        </p:nvSpPr>
        <p:spPr>
          <a:xfrm>
            <a:off x="4800600" y="1463040"/>
            <a:ext cx="3657600" cy="457200"/>
          </a:xfrm>
          <a:prstGeom prst="rect">
            <a:avLst/>
          </a:prstGeom>
          <a:solidFill>
            <a:srgbClr val="00C7FD"/>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0600" y="1508760"/>
            <a:ext cx="3657600" cy="365760"/>
          </a:xfrm>
          <a:prstGeom prst="rect">
            <a:avLst/>
          </a:prstGeom>
          <a:noFill/>
        </p:spPr>
        <p:txBody>
          <a:bodyPr wrap="none">
            <a:spAutoFit/>
          </a:bodyPr>
          <a:lstStyle/>
          <a:p>
            <a:pPr algn="ctr">
              <a:defRPr sz="1800" b="1">
                <a:solidFill>
                  <a:srgbClr val="FFFFFF"/>
                </a:solidFill>
              </a:defRPr>
            </a:pPr>
            <a:r>
              <a:t>💻 ONLINE PRESENCE</a:t>
            </a:r>
          </a:p>
        </p:txBody>
      </p:sp>
      <p:sp>
        <p:nvSpPr>
          <p:cNvPr id="9" name="TextBox 8"/>
          <p:cNvSpPr txBox="1"/>
          <p:nvPr/>
        </p:nvSpPr>
        <p:spPr>
          <a:xfrm>
            <a:off x="4800600" y="2011680"/>
            <a:ext cx="3657600" cy="1828800"/>
          </a:xfrm>
          <a:prstGeom prst="rect">
            <a:avLst/>
          </a:prstGeom>
          <a:noFill/>
        </p:spPr>
        <p:txBody>
          <a:bodyPr wrap="square">
            <a:spAutoFit/>
          </a:bodyPr>
          <a:lstStyle/>
          <a:p>
            <a:pPr>
              <a:lnSpc>
                <a:spcPct val="130000"/>
              </a:lnSpc>
              <a:defRPr sz="1100">
                <a:solidFill>
                  <a:srgbClr val="282828"/>
                </a:solidFill>
              </a:defRPr>
            </a:pPr>
            <a:r>
              <a:t>Digital Product Pages:</a:t>
            </a:r>
          </a:p>
          <a:p>
            <a:pPr>
              <a:lnSpc>
                <a:spcPct val="130000"/>
              </a:lnSpc>
              <a:defRPr sz="1100">
                <a:solidFill>
                  <a:srgbClr val="282828"/>
                </a:solidFill>
              </a:defRPr>
            </a:pPr>
            <a:r>
              <a:t>• Intel.com product showcase</a:t>
            </a:r>
          </a:p>
          <a:p>
            <a:pPr>
              <a:lnSpc>
                <a:spcPct val="130000"/>
              </a:lnSpc>
              <a:defRPr sz="1100">
                <a:solidFill>
                  <a:srgbClr val="282828"/>
                </a:solidFill>
              </a:defRPr>
            </a:pPr>
            <a:r>
              <a:t>• High-resolution product imagery</a:t>
            </a:r>
          </a:p>
          <a:p>
            <a:pPr>
              <a:lnSpc>
                <a:spcPct val="130000"/>
              </a:lnSpc>
              <a:defRPr sz="1100">
                <a:solidFill>
                  <a:srgbClr val="282828"/>
                </a:solidFill>
              </a:defRPr>
            </a:pPr>
            <a:r>
              <a:t>• 360-degree interactive views</a:t>
            </a:r>
          </a:p>
          <a:p>
            <a:pPr>
              <a:lnSpc>
                <a:spcPct val="130000"/>
              </a:lnSpc>
              <a:defRPr sz="1100">
                <a:solidFill>
                  <a:srgbClr val="282828"/>
                </a:solidFill>
              </a:defRPr>
            </a:pPr>
            <a:r>
              <a:t>• Specification comparison tools</a:t>
            </a:r>
          </a:p>
          <a:p>
            <a:pPr>
              <a:lnSpc>
                <a:spcPct val="130000"/>
              </a:lnSpc>
              <a:defRPr sz="1100">
                <a:solidFill>
                  <a:srgbClr val="282828"/>
                </a:solidFill>
              </a:defRPr>
            </a:pPr>
            <a:r>
              <a:t>• "Where to Buy" retailer links</a:t>
            </a:r>
          </a:p>
          <a:p>
            <a:pPr>
              <a:lnSpc>
                <a:spcPct val="130000"/>
              </a:lnSpc>
              <a:defRPr sz="1100">
                <a:solidFill>
                  <a:srgbClr val="282828"/>
                </a:solidFill>
              </a:defRPr>
            </a:pPr>
            <a:endParaRPr/>
          </a:p>
          <a:p>
            <a:pPr>
              <a:lnSpc>
                <a:spcPct val="130000"/>
              </a:lnSpc>
              <a:defRPr sz="1100">
                <a:solidFill>
                  <a:srgbClr val="282828"/>
                </a:solidFill>
              </a:defRPr>
            </a:pPr>
            <a:r>
              <a:t>OEM Partner Sites:</a:t>
            </a:r>
          </a:p>
          <a:p>
            <a:pPr>
              <a:lnSpc>
                <a:spcPct val="130000"/>
              </a:lnSpc>
              <a:defRPr sz="1100">
                <a:solidFill>
                  <a:srgbClr val="282828"/>
                </a:solidFill>
              </a:defRPr>
            </a:pPr>
            <a:r>
              <a:t>• Dell, HP, Lenovo integration</a:t>
            </a:r>
          </a:p>
          <a:p>
            <a:pPr>
              <a:lnSpc>
                <a:spcPct val="130000"/>
              </a:lnSpc>
              <a:defRPr sz="1100">
                <a:solidFill>
                  <a:srgbClr val="282828"/>
                </a:solidFill>
              </a:defRPr>
            </a:pPr>
            <a:r>
              <a:t>• Laptop configurators</a:t>
            </a:r>
          </a:p>
          <a:p>
            <a:pPr>
              <a:lnSpc>
                <a:spcPct val="130000"/>
              </a:lnSpc>
              <a:defRPr sz="1100">
                <a:solidFill>
                  <a:srgbClr val="282828"/>
                </a:solidFill>
              </a:defRPr>
            </a:pPr>
            <a:r>
              <a:t>• Build-your-own PC tools</a:t>
            </a:r>
          </a:p>
          <a:p>
            <a:pPr>
              <a:lnSpc>
                <a:spcPct val="130000"/>
              </a:lnSpc>
              <a:defRPr sz="1100">
                <a:solidFill>
                  <a:srgbClr val="282828"/>
                </a:solidFill>
              </a:defRPr>
            </a:pPr>
            <a:r>
              <a:t>• Real-time availability</a:t>
            </a:r>
          </a:p>
          <a:p>
            <a:pPr>
              <a:lnSpc>
                <a:spcPct val="130000"/>
              </a:lnSpc>
              <a:defRPr sz="1100">
                <a:solidFill>
                  <a:srgbClr val="282828"/>
                </a:solidFill>
              </a:defRPr>
            </a:pPr>
            <a:r>
              <a:t>• Customer reviews</a:t>
            </a:r>
          </a:p>
          <a:p>
            <a:pPr>
              <a:lnSpc>
                <a:spcPct val="130000"/>
              </a:lnSpc>
              <a:defRPr sz="1100">
                <a:solidFill>
                  <a:srgbClr val="282828"/>
                </a:solidFill>
              </a:defRPr>
            </a:pPr>
            <a:endParaRPr/>
          </a:p>
          <a:p>
            <a:pPr>
              <a:lnSpc>
                <a:spcPct val="130000"/>
              </a:lnSpc>
              <a:defRPr sz="1100">
                <a:solidFill>
                  <a:srgbClr val="282828"/>
                </a:solidFill>
              </a:defRPr>
            </a:pPr>
            <a:r>
              <a:t>E-Commerce Platforms:</a:t>
            </a:r>
          </a:p>
          <a:p>
            <a:pPr>
              <a:lnSpc>
                <a:spcPct val="130000"/>
              </a:lnSpc>
              <a:defRPr sz="1100">
                <a:solidFill>
                  <a:srgbClr val="282828"/>
                </a:solidFill>
              </a:defRPr>
            </a:pPr>
            <a:r>
              <a:t>• Amazon, Newegg, Best Buy</a:t>
            </a:r>
          </a:p>
          <a:p>
            <a:pPr>
              <a:lnSpc>
                <a:spcPct val="130000"/>
              </a:lnSpc>
              <a:defRPr sz="1100">
                <a:solidFill>
                  <a:srgbClr val="282828"/>
                </a:solidFill>
              </a:defRPr>
            </a:pPr>
            <a:r>
              <a:t>• Product badges &amp; certifications</a:t>
            </a:r>
          </a:p>
          <a:p>
            <a:pPr>
              <a:lnSpc>
                <a:spcPct val="130000"/>
              </a:lnSpc>
              <a:defRPr sz="1100">
                <a:solidFill>
                  <a:srgbClr val="282828"/>
                </a:solidFill>
              </a:defRPr>
            </a:pPr>
            <a:r>
              <a:t>• AI PC branding prominent</a:t>
            </a:r>
          </a:p>
          <a:p>
            <a:pPr>
              <a:lnSpc>
                <a:spcPct val="130000"/>
              </a:lnSpc>
              <a:defRPr sz="1100">
                <a:solidFill>
                  <a:srgbClr val="282828"/>
                </a:solidFill>
              </a:defRPr>
            </a:pPr>
            <a:r>
              <a:t>• Technical specifications</a:t>
            </a:r>
          </a:p>
          <a:p>
            <a:pPr>
              <a:lnSpc>
                <a:spcPct val="130000"/>
              </a:lnSpc>
              <a:defRPr sz="1100">
                <a:solidFill>
                  <a:srgbClr val="282828"/>
                </a:solidFill>
              </a:defRPr>
            </a:pPr>
            <a:r>
              <a:t>• Installation guides/videos</a:t>
            </a:r>
          </a:p>
        </p:txBody>
      </p:sp>
      <p:sp>
        <p:nvSpPr>
          <p:cNvPr id="10" name="Rectangle 9"/>
          <p:cNvSpPr/>
          <p:nvPr/>
        </p:nvSpPr>
        <p:spPr>
          <a:xfrm>
            <a:off x="7068312" y="2103120"/>
            <a:ext cx="1847088" cy="2816352"/>
          </a:xfrm>
          <a:prstGeom prst="rect">
            <a:avLst/>
          </a:prstGeom>
          <a:solidFill>
            <a:srgbClr val="FFFFE6"/>
          </a:solidFill>
          <a:ln w="38100">
            <a:solidFill>
              <a:srgbClr val="007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68312" y="2112264"/>
            <a:ext cx="1847088" cy="2598468"/>
          </a:xfrm>
          <a:prstGeom prst="rect">
            <a:avLst/>
          </a:prstGeom>
          <a:noFill/>
        </p:spPr>
        <p:txBody>
          <a:bodyPr wrap="square">
            <a:spAutoFit/>
          </a:bodyPr>
          <a:lstStyle/>
          <a:p>
            <a:pPr>
              <a:lnSpc>
                <a:spcPct val="130000"/>
              </a:lnSpc>
              <a:defRPr sz="1100">
                <a:solidFill>
                  <a:srgbClr val="282828"/>
                </a:solidFill>
              </a:defRPr>
            </a:pPr>
            <a:r>
              <a:rPr sz="900" dirty="0"/>
              <a:t>🎯 PACKAGING STRATEGY: Premium positioning with sustainability focus. Clean, modern design emphasizes AI capabilities and U.S. manufacturing. Online presence prioritizes technical transparency with interactive product visualization. Retail packaging optimized for both traditional stores and e-commerce fulfillment. Consistent Intel blue branding across all touchpoints reinforces brand recognition and quality perception.</a:t>
            </a:r>
          </a:p>
        </p:txBody>
      </p:sp>
      <p:sp>
        <p:nvSpPr>
          <p:cNvPr id="12" name="Rectangle 11"/>
          <p:cNvSpPr/>
          <p:nvPr/>
        </p:nvSpPr>
        <p:spPr>
          <a:xfrm>
            <a:off x="685800" y="5120640"/>
            <a:ext cx="3657600" cy="1280160"/>
          </a:xfrm>
          <a:prstGeom prst="rect">
            <a:avLst/>
          </a:prstGeom>
          <a:solidFill>
            <a:srgbClr val="E6F0FF"/>
          </a:solidFill>
          <a:ln w="25400">
            <a:solidFill>
              <a:srgbClr val="007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5440680"/>
            <a:ext cx="3291840" cy="594360"/>
          </a:xfrm>
          <a:prstGeom prst="rect">
            <a:avLst/>
          </a:prstGeom>
          <a:noFill/>
        </p:spPr>
        <p:txBody>
          <a:bodyPr wrap="square">
            <a:spAutoFit/>
          </a:bodyPr>
          <a:lstStyle/>
          <a:p>
            <a:pPr algn="ctr">
              <a:lnSpc>
                <a:spcPct val="120000"/>
              </a:lnSpc>
              <a:defRPr sz="900">
                <a:solidFill>
                  <a:srgbClr val="003D5B"/>
                </a:solidFill>
              </a:defRPr>
            </a:pPr>
            <a:r>
              <a:t>📸 PHYSICAL PACKAGING EXAMPLE:</a:t>
            </a:r>
          </a:p>
          <a:p>
            <a:pPr algn="ctr">
              <a:lnSpc>
                <a:spcPct val="120000"/>
              </a:lnSpc>
              <a:defRPr sz="900">
                <a:solidFill>
                  <a:srgbClr val="003D5B"/>
                </a:solidFill>
              </a:defRPr>
            </a:pPr>
            <a:r>
              <a:t>Intel Core Ultra Series 3 retail box featuring premium blue gradient design with holographic security seal and 18A technology badge</a:t>
            </a:r>
          </a:p>
        </p:txBody>
      </p:sp>
      <p:sp>
        <p:nvSpPr>
          <p:cNvPr id="14" name="Rectangle 13"/>
          <p:cNvSpPr/>
          <p:nvPr/>
        </p:nvSpPr>
        <p:spPr>
          <a:xfrm>
            <a:off x="4800600" y="5120640"/>
            <a:ext cx="3657600" cy="1280160"/>
          </a:xfrm>
          <a:prstGeom prst="rect">
            <a:avLst/>
          </a:prstGeom>
          <a:solidFill>
            <a:srgbClr val="E6FFF0"/>
          </a:solidFill>
          <a:ln w="25400">
            <a:solidFill>
              <a:srgbClr val="00C7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83480" y="5440680"/>
            <a:ext cx="3291840" cy="594360"/>
          </a:xfrm>
          <a:prstGeom prst="rect">
            <a:avLst/>
          </a:prstGeom>
          <a:noFill/>
        </p:spPr>
        <p:txBody>
          <a:bodyPr wrap="square">
            <a:spAutoFit/>
          </a:bodyPr>
          <a:lstStyle/>
          <a:p>
            <a:pPr algn="ctr">
              <a:lnSpc>
                <a:spcPct val="120000"/>
              </a:lnSpc>
              <a:defRPr sz="900">
                <a:solidFill>
                  <a:srgbClr val="003D5B"/>
                </a:solidFill>
              </a:defRPr>
            </a:pPr>
            <a:r>
              <a:t>🖥️ ONLINE PACKAGING EXAMPLE:</a:t>
            </a:r>
          </a:p>
          <a:p>
            <a:pPr algn="ctr">
              <a:lnSpc>
                <a:spcPct val="120000"/>
              </a:lnSpc>
              <a:defRPr sz="900">
                <a:solidFill>
                  <a:srgbClr val="003D5B"/>
                </a:solidFill>
              </a:defRPr>
            </a:pPr>
            <a:r>
              <a:t>Intel.com product page with interactive 360° viewer, technical specs, AI PC badge, and "Where to Buy" integration</a:t>
            </a:r>
          </a:p>
        </p:txBody>
      </p:sp>
      <p:sp>
        <p:nvSpPr>
          <p:cNvPr id="16" name="TextBox 15"/>
          <p:cNvSpPr txBox="1"/>
          <p:nvPr/>
        </p:nvSpPr>
        <p:spPr>
          <a:xfrm>
            <a:off x="914400" y="6492240"/>
            <a:ext cx="7315200" cy="228600"/>
          </a:xfrm>
          <a:prstGeom prst="rect">
            <a:avLst/>
          </a:prstGeom>
          <a:noFill/>
        </p:spPr>
        <p:txBody>
          <a:bodyPr wrap="none">
            <a:spAutoFit/>
          </a:bodyPr>
          <a:lstStyle/>
          <a:p>
            <a:pPr algn="ctr">
              <a:defRPr sz="1000" i="1">
                <a:solidFill>
                  <a:srgbClr val="646464"/>
                </a:solidFill>
              </a:defRPr>
            </a:pPr>
            <a:r>
              <a:t>Intel Core Ultra Series 3 | Launch Date: January 27, 2026 | Premium AI PC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rectangular objects with blue and silver colors&#10;&#10;AI-generated content may be incorrect.">
            <a:extLst>
              <a:ext uri="{FF2B5EF4-FFF2-40B4-BE49-F238E27FC236}">
                <a16:creationId xmlns:a16="http://schemas.microsoft.com/office/drawing/2014/main" id="{64CE25BC-5AB6-C580-AC9C-98FCE431A2B7}"/>
              </a:ext>
            </a:extLst>
          </p:cNvPr>
          <p:cNvPicPr>
            <a:picLocks noChangeAspect="1"/>
          </p:cNvPicPr>
          <p:nvPr/>
        </p:nvPicPr>
        <p:blipFill>
          <a:blip r:embed="rId2">
            <a:alphaModFix amt="76000"/>
            <a:extLst>
              <a:ext uri="{BEBA8EAE-BF5A-486C-A8C5-ECC9F3942E4B}">
                <a14:imgProps xmlns:a14="http://schemas.microsoft.com/office/drawing/2010/main">
                  <a14:imgLayer r:embed="rId3">
                    <a14:imgEffect>
                      <a14:sharpenSoften amount="-25000"/>
                    </a14:imgEffect>
                  </a14:imgLayer>
                </a14:imgProps>
              </a:ext>
            </a:extLst>
          </a:blip>
          <a:srcRect l="-1183" r="20866"/>
          <a:stretch>
            <a:fillRect/>
          </a:stretch>
        </p:blipFill>
        <p:spPr>
          <a:xfrm>
            <a:off x="-155448" y="17146"/>
            <a:ext cx="9326880" cy="6840854"/>
          </a:xfrm>
          <a:prstGeom prst="rect">
            <a:avLst/>
          </a:prstGeom>
        </p:spPr>
      </p:pic>
      <p:pic>
        <p:nvPicPr>
          <p:cNvPr id="5" name="Picture 4" descr="A group of computer components&#10;&#10;AI-generated content may be incorrect.">
            <a:extLst>
              <a:ext uri="{FF2B5EF4-FFF2-40B4-BE49-F238E27FC236}">
                <a16:creationId xmlns:a16="http://schemas.microsoft.com/office/drawing/2014/main" id="{4E3E65BE-2279-4E51-B7C9-2396956184AE}"/>
              </a:ext>
            </a:extLst>
          </p:cNvPr>
          <p:cNvPicPr>
            <a:picLocks noChangeAspect="1"/>
          </p:cNvPicPr>
          <p:nvPr/>
        </p:nvPicPr>
        <p:blipFill>
          <a:blip r:embed="rId4"/>
          <a:stretch>
            <a:fillRect/>
          </a:stretch>
        </p:blipFill>
        <p:spPr>
          <a:xfrm>
            <a:off x="1450154" y="835600"/>
            <a:ext cx="3569677" cy="1856232"/>
          </a:xfrm>
          <a:prstGeom prst="rect">
            <a:avLst/>
          </a:prstGeom>
        </p:spPr>
      </p:pic>
      <p:pic>
        <p:nvPicPr>
          <p:cNvPr id="9" name="Picture 8" descr="A person standing on a stage&#10;&#10;AI-generated content may be incorrect.">
            <a:extLst>
              <a:ext uri="{FF2B5EF4-FFF2-40B4-BE49-F238E27FC236}">
                <a16:creationId xmlns:a16="http://schemas.microsoft.com/office/drawing/2014/main" id="{F8F5F09B-4DEB-E970-0A52-6DFDEA330E2B}"/>
              </a:ext>
            </a:extLst>
          </p:cNvPr>
          <p:cNvPicPr>
            <a:picLocks noChangeAspect="1"/>
          </p:cNvPicPr>
          <p:nvPr/>
        </p:nvPicPr>
        <p:blipFill>
          <a:blip r:embed="rId5"/>
          <a:stretch>
            <a:fillRect/>
          </a:stretch>
        </p:blipFill>
        <p:spPr>
          <a:xfrm>
            <a:off x="4352882" y="2221992"/>
            <a:ext cx="2486829" cy="1307592"/>
          </a:xfrm>
          <a:prstGeom prst="rect">
            <a:avLst/>
          </a:prstGeom>
        </p:spPr>
      </p:pic>
      <p:pic>
        <p:nvPicPr>
          <p:cNvPr id="3" name="Picture 2" descr="A box with a logo&#10;&#10;AI-generated content may be incorrect.">
            <a:extLst>
              <a:ext uri="{FF2B5EF4-FFF2-40B4-BE49-F238E27FC236}">
                <a16:creationId xmlns:a16="http://schemas.microsoft.com/office/drawing/2014/main" id="{7B139DCA-503B-6739-8758-F974519A80B5}"/>
              </a:ext>
            </a:extLst>
          </p:cNvPr>
          <p:cNvPicPr>
            <a:picLocks noChangeAspect="1"/>
          </p:cNvPicPr>
          <p:nvPr/>
        </p:nvPicPr>
        <p:blipFill>
          <a:blip r:embed="rId6"/>
          <a:stretch>
            <a:fillRect/>
          </a:stretch>
        </p:blipFill>
        <p:spPr>
          <a:xfrm>
            <a:off x="2117103" y="3161671"/>
            <a:ext cx="2390889" cy="2390889"/>
          </a:xfrm>
          <a:prstGeom prst="rect">
            <a:avLst/>
          </a:prstGeom>
        </p:spPr>
      </p:pic>
    </p:spTree>
    <p:extLst>
      <p:ext uri="{BB962C8B-B14F-4D97-AF65-F5344CB8AC3E}">
        <p14:creationId xmlns:p14="http://schemas.microsoft.com/office/powerpoint/2010/main" val="1375602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1630</Words>
  <Application>Microsoft Office PowerPoint</Application>
  <PresentationFormat>On-screen Show (4:3)</PresentationFormat>
  <Paragraphs>160</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Louis Rodriguez</cp:lastModifiedBy>
  <cp:revision>3</cp:revision>
  <dcterms:created xsi:type="dcterms:W3CDTF">2013-01-27T09:14:16Z</dcterms:created>
  <dcterms:modified xsi:type="dcterms:W3CDTF">2026-01-28T01:20:15Z</dcterms:modified>
  <cp:category/>
</cp:coreProperties>
</file>
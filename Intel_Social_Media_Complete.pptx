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9395" autoAdjust="0"/>
  </p:normalViewPr>
  <p:slideViewPr>
    <p:cSldViewPr snapToGrid="0" snapToObjects="1">
      <p:cViewPr varScale="1">
        <p:scale>
          <a:sx n="54" d="100"/>
          <a:sy n="54" d="100"/>
        </p:scale>
        <p:origin x="4884" y="78"/>
      </p:cViewPr>
      <p:guideLst>
        <p:guide orient="horz" pos="2160"/>
        <p:guide pos="2880"/>
      </p:guideLst>
    </p:cSldViewPr>
  </p:slideViewPr>
  <p:notesTextViewPr>
    <p:cViewPr>
      <p:scale>
        <a:sx n="100" d="100"/>
        <a:sy n="100" d="100"/>
      </p:scale>
      <p:origin x="0" y="-1329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0259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INTEL CORPORATION - TARGET MARKET BRIEF</a:t>
            </a:r>
          </a:p>
          <a:p>
            <a:r>
              <a:rPr dirty="0"/>
              <a:t>========================================</a:t>
            </a:r>
          </a:p>
          <a:p>
            <a:endParaRPr dirty="0"/>
          </a:p>
          <a:p>
            <a:r>
              <a:rPr dirty="0"/>
              <a:t>MARKET SEGMENTATION STRATEGY</a:t>
            </a:r>
          </a:p>
          <a:p>
            <a:endParaRPr dirty="0"/>
          </a:p>
          <a:p>
            <a:r>
              <a:rPr dirty="0"/>
              <a:t>Intel employs multi-dimensional market segmentation across B2B and B2C channels, dividing markets by demographics, psychographics, behavioral patterns, and geographic regions.</a:t>
            </a:r>
          </a:p>
          <a:p>
            <a:endParaRPr dirty="0"/>
          </a:p>
          <a:p>
            <a:r>
              <a:rPr dirty="0"/>
              <a:t>PRIMARY TARGET MARKET DEMOGRAPHICS:</a:t>
            </a:r>
          </a:p>
          <a:p>
            <a:endParaRPr dirty="0"/>
          </a:p>
          <a:p>
            <a:r>
              <a:rPr dirty="0"/>
              <a:t>Age: 25-54 years old (core segment), with secondary focus on 18-24 (gaming/students) and 55+ (premium productivity users)</a:t>
            </a:r>
          </a:p>
          <a:p>
            <a:endParaRPr dirty="0"/>
          </a:p>
          <a:p>
            <a:r>
              <a:rPr dirty="0"/>
              <a:t>Income: Middle to upper-middle class ($50,000-$150,000+ annually for consumer segment); Enterprise segment targets organizations with IT budgets exceeding $500,000</a:t>
            </a:r>
          </a:p>
          <a:p>
            <a:endParaRPr dirty="0"/>
          </a:p>
          <a:p>
            <a:r>
              <a:rPr dirty="0"/>
              <a:t>Education Level: College-educated professionals, technical specialists, IT decision-makers, and students in STEM fields</a:t>
            </a:r>
          </a:p>
          <a:p>
            <a:endParaRPr dirty="0"/>
          </a:p>
          <a:p>
            <a:r>
              <a:rPr dirty="0"/>
              <a:t>Occupation: Technology professionals, content creators, engineers, business executives, software developers, data scientists, and competitive gamers</a:t>
            </a:r>
          </a:p>
          <a:p>
            <a:endParaRPr dirty="0"/>
          </a:p>
          <a:p>
            <a:r>
              <a:rPr dirty="0"/>
              <a:t>Geographic Focus: Global presence with concentration in North America, Europe, and Asia-Pacific technology hubs</a:t>
            </a:r>
          </a:p>
          <a:p>
            <a:endParaRPr dirty="0"/>
          </a:p>
          <a:p>
            <a:r>
              <a:rPr dirty="0"/>
              <a:t>PSYCHOGRAPHIC CHARACTERISTICS:</a:t>
            </a:r>
          </a:p>
          <a:p>
            <a:endParaRPr dirty="0"/>
          </a:p>
          <a:p>
            <a:r>
              <a:rPr dirty="0"/>
              <a:t>Performance-oriented individuals valuing cutting-edge technology, reliability, and brand reputation. Early adopters seeking innovation in computing power, AI capabilities, and integrated solutions.</a:t>
            </a:r>
          </a:p>
          <a:p>
            <a:endParaRPr dirty="0"/>
          </a:p>
          <a:p>
            <a:r>
              <a:rPr dirty="0"/>
              <a:t>BEHAVIORAL SEGMENTATION:</a:t>
            </a:r>
          </a:p>
          <a:p>
            <a:endParaRPr dirty="0"/>
          </a:p>
          <a:p>
            <a:r>
              <a:rPr dirty="0"/>
              <a:t>Heavy technology users requiring high-performance computing for professional workflows, content creation, gaming, data analysis, and enterprise applications. Brand-loyal customers seeking trusted solutions with proven track records.</a:t>
            </a:r>
          </a:p>
          <a:p>
            <a:endParaRPr dirty="0"/>
          </a:p>
          <a:p>
            <a:r>
              <a:rPr dirty="0"/>
              <a:t>TARGET MARKET STRATEGIES:</a:t>
            </a:r>
          </a:p>
          <a:p>
            <a:endParaRPr dirty="0"/>
          </a:p>
          <a:p>
            <a:r>
              <a:rPr dirty="0"/>
              <a:t>B2B Strategy: Direct sales to OEMs (Dell, HP, Lenovo), enterprise partnerships, and data center operators through relationship marketing and technical consultation</a:t>
            </a:r>
          </a:p>
          <a:p>
            <a:endParaRPr dirty="0"/>
          </a:p>
          <a:p>
            <a:r>
              <a:rPr dirty="0"/>
              <a:t>B2C Strategy: Indirect reach through retail partners, online channels, and "Intel Inside" co-branding campaigns emphasizing performance benefits</a:t>
            </a:r>
          </a:p>
          <a:p>
            <a:endParaRPr dirty="0"/>
          </a:p>
          <a:p>
            <a:r>
              <a:rPr dirty="0"/>
              <a:t>MARKETING RESEARCH APPROACH:</a:t>
            </a:r>
          </a:p>
          <a:p>
            <a:endParaRPr dirty="0"/>
          </a:p>
          <a:p>
            <a:r>
              <a:rPr dirty="0"/>
              <a:t>Primary Research: Customer surveys, focus groups with IT decision-makers, product testing labs, and partnership feedback mechanisms</a:t>
            </a:r>
          </a:p>
          <a:p>
            <a:endParaRPr dirty="0"/>
          </a:p>
          <a:p>
            <a:r>
              <a:rPr dirty="0"/>
              <a:t>Secondary Research: Industry reports (Gartner, IDC), competitive analysis, market trend studies, and sales data analytics</a:t>
            </a:r>
          </a:p>
          <a:p>
            <a:endParaRPr dirty="0"/>
          </a:p>
          <a:p>
            <a:r>
              <a:rPr dirty="0"/>
              <a:t>Sampling Techniques: Stratified sampling across industry verticals, random sampling for consumer sentiment, and convenience sampling at technology trade shows</a:t>
            </a:r>
          </a:p>
          <a:p>
            <a:endParaRPr dirty="0"/>
          </a:p>
          <a:p>
            <a:r>
              <a:rPr dirty="0"/>
              <a:t>BUYER-SELLER RELATIONSHIP BUILDING:</a:t>
            </a:r>
          </a:p>
          <a:p>
            <a:endParaRPr dirty="0"/>
          </a:p>
          <a:p>
            <a:r>
              <a:rPr dirty="0"/>
              <a:t>Intel maintains relationships through technical support ecosystems, developer programs, loyalty incentives for OEM partners, and innovation co-development initiatives. Customer satisfaction enhanced via quality assurance programs, extended warranties, and responsive service channels addressing performance optimization and compatibility concerns.</a:t>
            </a:r>
            <a:endParaRPr lang="en-US" dirty="0"/>
          </a:p>
          <a:p>
            <a:endParaRPr lang="en-US" dirty="0"/>
          </a:p>
          <a:p>
            <a:endParaRPr lang="en-US" dirty="0"/>
          </a:p>
          <a:p>
            <a:r>
              <a:rPr lang="en-US" dirty="0"/>
              <a:t>========================================</a:t>
            </a:r>
          </a:p>
          <a:p>
            <a:r>
              <a:rPr lang="en-US" dirty="0"/>
              <a:t>KEY RECENT DEVELOPMENTS (Dec 2025 - Jan 2026)</a:t>
            </a:r>
          </a:p>
          <a:p>
            <a:r>
              <a:rPr lang="en-US" dirty="0"/>
              <a:t>========================================</a:t>
            </a:r>
          </a:p>
          <a:p>
            <a:endParaRPr lang="en-US" dirty="0"/>
          </a:p>
          <a:p>
            <a:r>
              <a:rPr lang="en-US" dirty="0"/>
              <a:t>1. CES 2026 LAUNCH (January 5-10, 2026)</a:t>
            </a:r>
          </a:p>
          <a:p>
            <a:r>
              <a:rPr lang="en-US" dirty="0"/>
              <a:t>   - Intel Core Ultra Series 3 processors announced</a:t>
            </a:r>
          </a:p>
          <a:p>
            <a:r>
              <a:rPr lang="en-US" dirty="0"/>
              <a:t>   - 18A process technology debut (U.S. manufacturing)</a:t>
            </a:r>
          </a:p>
          <a:p>
            <a:r>
              <a:rPr lang="en-US" dirty="0"/>
              <a:t>   - Desktop-class gaming performance in mobile</a:t>
            </a:r>
          </a:p>
          <a:p>
            <a:r>
              <a:rPr lang="en-US" dirty="0"/>
              <a:t>   - Available January 27, 2026</a:t>
            </a:r>
          </a:p>
          <a:p>
            <a:endParaRPr lang="en-US" dirty="0"/>
          </a:p>
          <a:p>
            <a:r>
              <a:rPr lang="en-US" dirty="0"/>
              <a:t>2. GOVERNMENT PARTNERSHIP</a:t>
            </a:r>
          </a:p>
          <a:p>
            <a:r>
              <a:rPr lang="en-US" dirty="0"/>
              <a:t>   - U.S. government took ~10% stake in Intel</a:t>
            </a:r>
          </a:p>
          <a:p>
            <a:r>
              <a:rPr lang="en-US" dirty="0"/>
              <a:t>   - Trump administration support and meetings</a:t>
            </a:r>
          </a:p>
          <a:p>
            <a:r>
              <a:rPr lang="en-US" dirty="0"/>
              <a:t>   - CHIPS Act funding and manufacturing incentives</a:t>
            </a:r>
          </a:p>
          <a:p>
            <a:r>
              <a:rPr lang="en-US" dirty="0"/>
              <a:t>   - Political validation and strategic importance</a:t>
            </a:r>
          </a:p>
          <a:p>
            <a:endParaRPr lang="en-US" dirty="0"/>
          </a:p>
          <a:p>
            <a:r>
              <a:rPr lang="en-US" dirty="0"/>
              <a:t>3. CEO LEADERSHIP TRANSITION</a:t>
            </a:r>
          </a:p>
          <a:p>
            <a:r>
              <a:rPr lang="en-US" dirty="0"/>
              <a:t>   - Lip-Bu Tan leading turnaround strategy</a:t>
            </a:r>
          </a:p>
          <a:p>
            <a:r>
              <a:rPr lang="en-US" dirty="0"/>
              <a:t>   - Focus on customer responsiveness</a:t>
            </a:r>
          </a:p>
          <a:p>
            <a:r>
              <a:rPr lang="en-US" dirty="0"/>
              <a:t>   - Manufacturing and innovation priorities</a:t>
            </a:r>
          </a:p>
          <a:p>
            <a:r>
              <a:rPr lang="en-US" dirty="0"/>
              <a:t>   - Competitive positioning against AMD, Qualcomm, NVIDIA</a:t>
            </a:r>
          </a:p>
          <a:p>
            <a:endParaRPr lang="en-US" dirty="0"/>
          </a:p>
          <a:p>
            <a:r>
              <a:rPr lang="en-US" dirty="0"/>
              <a:t>4. AWS STRATEGIC PARTNERSHIP</a:t>
            </a:r>
          </a:p>
          <a:p>
            <a:r>
              <a:rPr lang="en-US" dirty="0"/>
              <a:t>   - Custom Intel Xeon 6 processor co-innovation</a:t>
            </a:r>
          </a:p>
          <a:p>
            <a:r>
              <a:rPr lang="en-US" dirty="0"/>
              <a:t>   - EC2 C8i instances with superior price-performance</a:t>
            </a:r>
          </a:p>
          <a:p>
            <a:r>
              <a:rPr lang="en-US" dirty="0"/>
              <a:t>   - Multiple industry vertical showcases</a:t>
            </a:r>
          </a:p>
          <a:p>
            <a:r>
              <a:rPr lang="en-US" dirty="0"/>
              <a:t>   - Cloud infrastructure leadership</a:t>
            </a:r>
          </a:p>
          <a:p>
            <a:endParaRPr lang="en-US" dirty="0"/>
          </a:p>
          <a:p>
            <a:r>
              <a:rPr lang="en-US" dirty="0"/>
              <a:t>5. AI PC MARKET POSITIONING</a:t>
            </a:r>
          </a:p>
          <a:p>
            <a:r>
              <a:rPr lang="en-US" dirty="0"/>
              <a:t>   - Intel AI Playground app (free with Core Ultra)</a:t>
            </a:r>
          </a:p>
          <a:p>
            <a:r>
              <a:rPr lang="en-US" dirty="0"/>
              <a:t>   - Offline AI capabilities for privacy</a:t>
            </a:r>
          </a:p>
          <a:p>
            <a:r>
              <a:rPr lang="en-US" dirty="0"/>
              <a:t>   - Battery life improvements</a:t>
            </a:r>
          </a:p>
          <a:p>
            <a:r>
              <a:rPr lang="en-US" dirty="0"/>
              <a:t>   - Edge AI and agentic actioning</a:t>
            </a:r>
          </a:p>
          <a:p>
            <a:endParaRPr lang="en-US" dirty="0"/>
          </a:p>
          <a:p>
            <a:r>
              <a:rPr lang="en-US" dirty="0"/>
              <a:t>========================================</a:t>
            </a:r>
          </a:p>
          <a:p>
            <a:r>
              <a:rPr lang="en-US" dirty="0"/>
              <a:t>ENGAGEMENT METRICS &amp; PERFORMANCE INDICATORS</a:t>
            </a:r>
          </a:p>
          <a:p>
            <a:r>
              <a:rPr lang="en-US" dirty="0"/>
              <a:t>========================================</a:t>
            </a:r>
          </a:p>
          <a:p>
            <a:endParaRPr lang="en-US" dirty="0"/>
          </a:p>
          <a:p>
            <a:r>
              <a:rPr lang="en-US" dirty="0"/>
              <a:t>Based on publicly visible data:</a:t>
            </a:r>
          </a:p>
          <a:p>
            <a:endParaRPr lang="en-US" dirty="0"/>
          </a:p>
          <a:p>
            <a:r>
              <a:rPr lang="en-US" dirty="0"/>
              <a:t>LinkedIn Performance:</a:t>
            </a:r>
          </a:p>
          <a:p>
            <a:r>
              <a:rPr lang="en-US" dirty="0"/>
              <a:t>- High engagement on technical posts with specific metrics</a:t>
            </a:r>
          </a:p>
          <a:p>
            <a:r>
              <a:rPr lang="en-US" dirty="0"/>
              <a:t>- Strong response to partnership announcements</a:t>
            </a:r>
          </a:p>
          <a:p>
            <a:r>
              <a:rPr lang="en-US" dirty="0"/>
              <a:t>- CEO content generates significant visibility</a:t>
            </a:r>
          </a:p>
          <a:p>
            <a:r>
              <a:rPr lang="en-US" dirty="0"/>
              <a:t>- Video content outperforms text-only posts</a:t>
            </a:r>
          </a:p>
          <a:p>
            <a:r>
              <a:rPr lang="en-US" dirty="0"/>
              <a:t>- Industry vertical case studies drive B2B leads</a:t>
            </a:r>
          </a:p>
          <a:p>
            <a:endParaRPr lang="en-US" dirty="0"/>
          </a:p>
          <a:p>
            <a:r>
              <a:rPr lang="en-US" dirty="0"/>
              <a:t>YouTube Performance:</a:t>
            </a:r>
          </a:p>
          <a:p>
            <a:r>
              <a:rPr lang="en-US" dirty="0"/>
              <a:t>- Product launch videos generate high view counts</a:t>
            </a:r>
          </a:p>
          <a:p>
            <a:r>
              <a:rPr lang="en-US" dirty="0"/>
              <a:t>- Gaming content drives enthusiast engagement</a:t>
            </a:r>
          </a:p>
          <a:p>
            <a:r>
              <a:rPr lang="en-US" dirty="0"/>
              <a:t>- Tutorial and how-to content has high retention</a:t>
            </a:r>
          </a:p>
          <a:p>
            <a:r>
              <a:rPr lang="en-US" dirty="0"/>
              <a:t>- Event coverage provides brand visibility</a:t>
            </a:r>
          </a:p>
          <a:p>
            <a:r>
              <a:rPr lang="en-US" dirty="0"/>
              <a:t>- Subscriber growth in tech enthusiast segment</a:t>
            </a:r>
          </a:p>
          <a:p>
            <a:endParaRPr lang="en-US" dirty="0"/>
          </a:p>
          <a:p>
            <a:r>
              <a:rPr lang="en-US" dirty="0"/>
              <a:t>Facebook Performance:</a:t>
            </a:r>
          </a:p>
          <a:p>
            <a:r>
              <a:rPr lang="en-US" dirty="0"/>
              <a:t>- Community questions and support generate comments</a:t>
            </a:r>
          </a:p>
          <a:p>
            <a:r>
              <a:rPr lang="en-US" dirty="0"/>
              <a:t>- Product announcements drive shares</a:t>
            </a:r>
          </a:p>
          <a:p>
            <a:r>
              <a:rPr lang="en-US" dirty="0"/>
              <a:t>- Political/government news creates discussion</a:t>
            </a:r>
          </a:p>
          <a:p>
            <a:r>
              <a:rPr lang="en-US" dirty="0"/>
              <a:t>- Visual content (photos/short videos) performs best</a:t>
            </a:r>
          </a:p>
          <a:p>
            <a:r>
              <a:rPr lang="en-US" dirty="0"/>
              <a:t>- Gen X and Boomer engagement on company news</a:t>
            </a:r>
          </a:p>
          <a:p>
            <a:endParaRPr lang="en-US" dirty="0"/>
          </a:p>
          <a:p>
            <a:r>
              <a:rPr lang="en-US" dirty="0"/>
              <a:t>========================================</a:t>
            </a:r>
          </a:p>
          <a:p>
            <a:r>
              <a:rPr lang="en-US" dirty="0"/>
              <a:t>COMPETITIVE POSITIONING IN CONTENT</a:t>
            </a:r>
          </a:p>
          <a:p>
            <a:r>
              <a:rPr lang="en-US" dirty="0"/>
              <a:t>========================================</a:t>
            </a:r>
          </a:p>
          <a:p>
            <a:endParaRPr lang="en-US" dirty="0"/>
          </a:p>
          <a:p>
            <a:r>
              <a:rPr lang="en-US" dirty="0"/>
              <a:t>INTEL vs. AMD:</a:t>
            </a:r>
          </a:p>
          <a:p>
            <a:r>
              <a:rPr lang="en-US" dirty="0"/>
              <a:t>- Intel emphasizes U.S. manufacturing advantage</a:t>
            </a:r>
          </a:p>
          <a:p>
            <a:r>
              <a:rPr lang="en-US" dirty="0"/>
              <a:t>- Focus on enterprise and cloud partnerships</a:t>
            </a:r>
          </a:p>
          <a:p>
            <a:r>
              <a:rPr lang="en-US" dirty="0"/>
              <a:t>- AI PC leadership narrative</a:t>
            </a:r>
          </a:p>
          <a:p>
            <a:r>
              <a:rPr lang="en-US" dirty="0"/>
              <a:t>- Process technology innovation (18A)</a:t>
            </a:r>
          </a:p>
          <a:p>
            <a:endParaRPr lang="en-US" dirty="0"/>
          </a:p>
          <a:p>
            <a:r>
              <a:rPr lang="en-US" dirty="0"/>
              <a:t>INTEL vs. NVIDIA:</a:t>
            </a:r>
          </a:p>
          <a:p>
            <a:r>
              <a:rPr lang="en-US" dirty="0"/>
              <a:t>- Different market segments (CPU vs. GPU focus)</a:t>
            </a:r>
          </a:p>
          <a:p>
            <a:r>
              <a:rPr lang="en-US" dirty="0"/>
              <a:t>- Intel highlighting AI inferencing capabilities</a:t>
            </a:r>
          </a:p>
          <a:p>
            <a:r>
              <a:rPr lang="en-US" dirty="0"/>
              <a:t>- Edge AI vs. data center AI positioning</a:t>
            </a:r>
          </a:p>
          <a:p>
            <a:r>
              <a:rPr lang="en-US" dirty="0"/>
              <a:t>- Complementary rather than directly competitive content</a:t>
            </a:r>
          </a:p>
          <a:p>
            <a:endParaRPr lang="en-US" dirty="0"/>
          </a:p>
          <a:p>
            <a:r>
              <a:rPr lang="en-US" dirty="0"/>
              <a:t>INTEL vs. QUALCOMM:</a:t>
            </a:r>
          </a:p>
          <a:p>
            <a:r>
              <a:rPr lang="en-US" dirty="0"/>
              <a:t>- PC market vs. mobile heritage</a:t>
            </a:r>
          </a:p>
          <a:p>
            <a:r>
              <a:rPr lang="en-US" dirty="0"/>
              <a:t>- Battery life and performance parity claims</a:t>
            </a:r>
          </a:p>
          <a:p>
            <a:r>
              <a:rPr lang="en-US" dirty="0"/>
              <a:t>- Windows ecosystem partnership strength</a:t>
            </a:r>
          </a:p>
          <a:p>
            <a:r>
              <a:rPr lang="en-US" dirty="0"/>
              <a:t>- Desktop replacement capabilities</a:t>
            </a:r>
          </a:p>
          <a:p>
            <a:endParaRPr lang="en-US" dirty="0"/>
          </a:p>
          <a:p>
            <a:r>
              <a:rPr lang="en-US" dirty="0"/>
              <a:t>========================================</a:t>
            </a:r>
          </a:p>
          <a:p>
            <a:r>
              <a:rPr lang="en-US" dirty="0"/>
              <a:t>RECOMMENDATIONS FOR CONTINUED SUCCESS</a:t>
            </a:r>
          </a:p>
          <a:p>
            <a:r>
              <a:rPr lang="en-US" dirty="0"/>
              <a:t>========================================</a:t>
            </a:r>
          </a:p>
          <a:p>
            <a:endParaRPr lang="en-US" dirty="0"/>
          </a:p>
          <a:p>
            <a:r>
              <a:rPr lang="en-US" dirty="0"/>
              <a:t>1. MAINTAIN TECHNICAL CREDIBILITY</a:t>
            </a:r>
          </a:p>
          <a:p>
            <a:r>
              <a:rPr lang="en-US" dirty="0"/>
              <a:t>   - Continue sharing specific performance benchmarks</a:t>
            </a:r>
          </a:p>
          <a:p>
            <a:r>
              <a:rPr lang="en-US" dirty="0"/>
              <a:t>   - Transparent communication about roadmap progress</a:t>
            </a:r>
          </a:p>
          <a:p>
            <a:r>
              <a:rPr lang="en-US" dirty="0"/>
              <a:t>   - Industry vertical case studies with real customers</a:t>
            </a:r>
          </a:p>
          <a:p>
            <a:endParaRPr lang="en-US" dirty="0"/>
          </a:p>
          <a:p>
            <a:r>
              <a:rPr lang="en-US" dirty="0"/>
              <a:t>2. HUMANIZE THE BRAND</a:t>
            </a:r>
          </a:p>
          <a:p>
            <a:r>
              <a:rPr lang="en-US" dirty="0"/>
              <a:t>   - More employee spotlights and culture content</a:t>
            </a:r>
          </a:p>
          <a:p>
            <a:r>
              <a:rPr lang="en-US" dirty="0"/>
              <a:t>   - Manufacturing workforce stories</a:t>
            </a:r>
          </a:p>
          <a:p>
            <a:r>
              <a:rPr lang="en-US" dirty="0"/>
              <a:t>   - Community impact and STEM education initiatives</a:t>
            </a:r>
          </a:p>
          <a:p>
            <a:endParaRPr lang="en-US" dirty="0"/>
          </a:p>
          <a:p>
            <a:r>
              <a:rPr lang="en-US" dirty="0"/>
              <a:t>3. GAMING COMMUNITY ENGAGEMENT</a:t>
            </a:r>
          </a:p>
          <a:p>
            <a:r>
              <a:rPr lang="en-US" dirty="0"/>
              <a:t>   - Deeper partnership with gaming influencers</a:t>
            </a:r>
          </a:p>
          <a:p>
            <a:r>
              <a:rPr lang="en-US" dirty="0"/>
              <a:t>   - Esports sponsorships and gaming event presence</a:t>
            </a:r>
          </a:p>
          <a:p>
            <a:r>
              <a:rPr lang="en-US" dirty="0"/>
              <a:t>   - Enthusiast community building programs</a:t>
            </a:r>
          </a:p>
          <a:p>
            <a:endParaRPr lang="en-US" dirty="0"/>
          </a:p>
          <a:p>
            <a:r>
              <a:rPr lang="en-US" dirty="0"/>
              <a:t>4. DEVELOPER ECOSYSTEM GROWTH</a:t>
            </a:r>
          </a:p>
          <a:p>
            <a:r>
              <a:rPr lang="en-US" dirty="0"/>
              <a:t>   - More technical tutorials and documentation</a:t>
            </a:r>
          </a:p>
          <a:p>
            <a:r>
              <a:rPr lang="en-US" dirty="0"/>
              <a:t>   - Open-source contributions and tools</a:t>
            </a:r>
          </a:p>
          <a:p>
            <a:r>
              <a:rPr lang="en-US" dirty="0"/>
              <a:t>   - Developer success stories and case studies</a:t>
            </a:r>
          </a:p>
          <a:p>
            <a:endParaRPr lang="en-US" dirty="0"/>
          </a:p>
          <a:p>
            <a:r>
              <a:rPr lang="en-US" dirty="0"/>
              <a:t>5. CROSS-PLATFORM INTEGRATION</a:t>
            </a:r>
          </a:p>
          <a:p>
            <a:r>
              <a:rPr lang="en-US" dirty="0"/>
              <a:t>   - Consistent campaign messaging across channels</a:t>
            </a:r>
          </a:p>
          <a:p>
            <a:r>
              <a:rPr lang="en-US" dirty="0"/>
              <a:t>   - Platform-appropriate content adaptations</a:t>
            </a:r>
          </a:p>
          <a:p>
            <a:r>
              <a:rPr lang="en-US" dirty="0"/>
              <a:t>   - Community conversation bridging</a:t>
            </a:r>
          </a:p>
          <a:p>
            <a:r>
              <a:rPr lang="en-US" dirty="0"/>
              <a:t>   - Unified customer support experience</a:t>
            </a:r>
          </a:p>
          <a:p>
            <a:endParaRPr lang="en-US" dirty="0"/>
          </a:p>
          <a:p>
            <a:r>
              <a:rPr lang="en-US" dirty="0"/>
              <a:t>========================================</a:t>
            </a:r>
          </a:p>
          <a:p>
            <a:r>
              <a:rPr lang="en-US" dirty="0"/>
              <a:t>CONCLUSION</a:t>
            </a:r>
          </a:p>
          <a:p>
            <a:r>
              <a:rPr lang="en-US" dirty="0"/>
              <a:t>========================================</a:t>
            </a:r>
          </a:p>
          <a:p>
            <a:endParaRPr lang="en-US" dirty="0"/>
          </a:p>
          <a:p>
            <a:r>
              <a:rPr lang="en-US" dirty="0"/>
              <a:t>Intel's social media strategy effectively leverages each platform's unique strengths and demographics:</a:t>
            </a:r>
          </a:p>
          <a:p>
            <a:endParaRPr lang="en-US" dirty="0"/>
          </a:p>
          <a:p>
            <a:r>
              <a:rPr lang="en-US" dirty="0"/>
              <a:t>- LinkedIn targets enterprise decision-makers with technical depth</a:t>
            </a:r>
          </a:p>
          <a:p>
            <a:r>
              <a:rPr lang="en-US" dirty="0"/>
              <a:t>- YouTube educates and inspires tech enthusiasts and creators</a:t>
            </a:r>
          </a:p>
          <a:p>
            <a:r>
              <a:rPr lang="en-US" dirty="0"/>
              <a:t>- Facebook builds broad brand awareness and community</a:t>
            </a:r>
          </a:p>
          <a:p>
            <a:endParaRPr lang="en-US" dirty="0"/>
          </a:p>
          <a:p>
            <a:r>
              <a:rPr lang="en-US" dirty="0"/>
              <a:t>Recent content themes emphasize AI PC leadership, U.S. manufacturing capabilities, and strategic partnerships. The CES 2026 launch of Core Ultra Series 3 processors represents a pivotal moment in Intel's comeback strategy under CEO Lip-Bu Tan.</a:t>
            </a:r>
          </a:p>
          <a:p>
            <a:endParaRPr lang="en-US" dirty="0"/>
          </a:p>
          <a:p>
            <a:r>
              <a:rPr lang="en-US" dirty="0"/>
              <a:t>The company's social media presence aligns well with its target markets across all three platforms, with content appropriately tailored to each audience's education level, income, age, and professional interests. The consistent "Made in USA" messaging and government partnership announcements strengthen Intel's positioning as a strategic technology leader.</a:t>
            </a:r>
          </a:p>
          <a:p>
            <a:endParaRPr lang="en-US" dirty="0"/>
          </a:p>
          <a:p>
            <a:r>
              <a:rPr lang="en-US" dirty="0"/>
              <a:t>Key success factors moving forward include maintaining technical credibility while humanizing the brand, continuing to build the AI PC narrative, and fostering strong community engagement across professional and consumer segments.</a:t>
            </a:r>
          </a:p>
          <a:p>
            <a:endParaRPr lang="en-US"/>
          </a:p>
          <a:p>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Platform URL: https://www.linkedin.com/company/intel-corporation</a:t>
            </a:r>
          </a:p>
          <a:p>
            <a:r>
              <a:rPr lang="en-US" dirty="0"/>
              <a:t>Primary Audience: B2B professionals, IT decision-makers, enterprise clients, developers</a:t>
            </a:r>
          </a:p>
          <a:p>
            <a:endParaRPr lang="en-US" dirty="0"/>
          </a:p>
          <a:p>
            <a:r>
              <a:rPr lang="en-US" dirty="0"/>
              <a:t>CONTENT THEMES FROM RECENT POSTS:</a:t>
            </a:r>
          </a:p>
          <a:p>
            <a:endParaRPr lang="en-US" dirty="0"/>
          </a:p>
          <a:p>
            <a:r>
              <a:rPr lang="en-US" dirty="0"/>
              <a:t>A. PARTNERSHIP ANNOUNCEMENTS &amp; ENTERPRISE SOLUTIONS</a:t>
            </a:r>
          </a:p>
          <a:p>
            <a:r>
              <a:rPr lang="en-US" dirty="0"/>
              <a:t>- Multiple posts highlighting AWS (Amazon Web Services) partnership</a:t>
            </a:r>
          </a:p>
          <a:p>
            <a:r>
              <a:rPr lang="en-US" dirty="0"/>
              <a:t>- Focus on Intel Xeon 6 processors for cloud computing</a:t>
            </a:r>
          </a:p>
          <a:p>
            <a:r>
              <a:rPr lang="en-US" dirty="0"/>
              <a:t>- EC2 C8i instances delivering 50% better price-performance</a:t>
            </a:r>
          </a:p>
          <a:p>
            <a:r>
              <a:rPr lang="en-US" dirty="0"/>
              <a:t>- Emphasis on HPC (High-Performance Computing) applications</a:t>
            </a:r>
          </a:p>
          <a:p>
            <a:endParaRPr lang="en-US" dirty="0"/>
          </a:p>
          <a:p>
            <a:r>
              <a:rPr lang="en-US" dirty="0"/>
              <a:t>B. INDUSTRY-SPECIFIC USE CASES</a:t>
            </a:r>
          </a:p>
          <a:p>
            <a:r>
              <a:rPr lang="en-US" dirty="0"/>
              <a:t>- Financial Services: Monte Carlo simulations, options pricing (3.3x higher output)</a:t>
            </a:r>
          </a:p>
          <a:p>
            <a:r>
              <a:rPr lang="en-US" dirty="0"/>
              <a:t>- Automotive &amp; Aerospace: </a:t>
            </a:r>
            <a:r>
              <a:rPr lang="en-US" dirty="0" err="1"/>
              <a:t>OpenFOAM</a:t>
            </a:r>
            <a:r>
              <a:rPr lang="en-US" dirty="0"/>
              <a:t> computational fluid dynamics (3.15x faster)</a:t>
            </a:r>
          </a:p>
          <a:p>
            <a:r>
              <a:rPr lang="en-US" dirty="0"/>
              <a:t>- Materials &amp; Manufacturing: LAMMPS molecular simulations (2.4-2.55x speedups)</a:t>
            </a:r>
          </a:p>
          <a:p>
            <a:r>
              <a:rPr lang="en-US" dirty="0"/>
              <a:t>- Cybersecurity: CrowdStrike Falcon Go platform integration</a:t>
            </a:r>
          </a:p>
          <a:p>
            <a:endParaRPr lang="en-US" dirty="0"/>
          </a:p>
          <a:p>
            <a:r>
              <a:rPr lang="en-US" dirty="0"/>
              <a:t>C. AI &amp; EDGE COMPUTING</a:t>
            </a:r>
          </a:p>
          <a:p>
            <a:r>
              <a:rPr lang="en-US" dirty="0"/>
              <a:t>- Robotics demonstrations using AWS on Intel Xeon 6</a:t>
            </a:r>
          </a:p>
          <a:p>
            <a:r>
              <a:rPr lang="en-US" dirty="0"/>
              <a:t>- Hybrid edge and cloud AI implementations</a:t>
            </a:r>
          </a:p>
          <a:p>
            <a:r>
              <a:rPr lang="en-US" dirty="0"/>
              <a:t>- </a:t>
            </a:r>
            <a:r>
              <a:rPr lang="en-US" dirty="0" err="1"/>
              <a:t>OpenVINO</a:t>
            </a:r>
            <a:r>
              <a:rPr lang="en-US" dirty="0"/>
              <a:t> toolkit for seamless human-robot interaction</a:t>
            </a:r>
          </a:p>
          <a:p>
            <a:r>
              <a:rPr lang="en-US" dirty="0"/>
              <a:t>- LLM-powered autonomous systems with local inferencing</a:t>
            </a:r>
          </a:p>
          <a:p>
            <a:endParaRPr lang="en-US" dirty="0"/>
          </a:p>
          <a:p>
            <a:r>
              <a:rPr lang="en-US" dirty="0"/>
              <a:t>D. MANUFACTURING &amp; INNOVATION</a:t>
            </a:r>
          </a:p>
          <a:p>
            <a:r>
              <a:rPr lang="en-US" dirty="0"/>
              <a:t>- Posts featuring CEO Lip-Bu Tan visiting U.S. manufacturing facilities</a:t>
            </a:r>
          </a:p>
          <a:p>
            <a:r>
              <a:rPr lang="en-US" dirty="0"/>
              <a:t>- Supermicro partnership in San Jose, California</a:t>
            </a:r>
          </a:p>
          <a:p>
            <a:r>
              <a:rPr lang="en-US" dirty="0"/>
              <a:t>- Emphasis on "Made in USA" manufacturing capabilities</a:t>
            </a:r>
          </a:p>
          <a:p>
            <a:r>
              <a:rPr lang="en-US" dirty="0"/>
              <a:t>- Intel India Tech Innovation Day highlights</a:t>
            </a:r>
          </a:p>
          <a:p>
            <a:endParaRPr lang="en-US" dirty="0"/>
          </a:p>
          <a:p>
            <a:r>
              <a:rPr lang="en-US" dirty="0"/>
              <a:t>E. AI PC CONSUMER EDUCATION</a:t>
            </a:r>
          </a:p>
          <a:p>
            <a:r>
              <a:rPr lang="en-US" dirty="0"/>
              <a:t>- Intel AI Playground app demonstrations</a:t>
            </a:r>
          </a:p>
          <a:p>
            <a:r>
              <a:rPr lang="en-US" dirty="0"/>
              <a:t>- Core Ultra processors with offline AI capabilities</a:t>
            </a:r>
          </a:p>
          <a:p>
            <a:r>
              <a:rPr lang="en-US" dirty="0"/>
              <a:t>- Privacy-focused messaging (data stays on device)</a:t>
            </a:r>
          </a:p>
          <a:p>
            <a:pPr marL="171450" indent="-171450">
              <a:buFontTx/>
              <a:buChar char="-"/>
            </a:pPr>
            <a:r>
              <a:rPr lang="en-US" dirty="0"/>
              <a:t>Holiday buyer's guide featuring 13 AI PC options</a:t>
            </a:r>
          </a:p>
          <a:p>
            <a:pPr marL="171450" indent="-171450">
              <a:buFontTx/>
              <a:buChar char="-"/>
            </a:pPr>
            <a:endParaRPr lang="en-US" dirty="0"/>
          </a:p>
          <a:p>
            <a:pPr marL="171450" indent="-171450">
              <a:buFontTx/>
              <a:buChar char="-"/>
            </a:pPr>
            <a:endParaRPr lang="en-US" dirty="0"/>
          </a:p>
          <a:p>
            <a:r>
              <a:rPr lang="en-US" dirty="0"/>
              <a:t>ENGAGEMENT STRATEGY:</a:t>
            </a:r>
          </a:p>
          <a:p>
            <a:r>
              <a:rPr lang="en-US" dirty="0"/>
              <a:t>- Technical depth with specific performance metrics</a:t>
            </a:r>
          </a:p>
          <a:p>
            <a:r>
              <a:rPr lang="en-US" dirty="0"/>
              <a:t>- Visual content including facility tours and product demonstrations</a:t>
            </a:r>
          </a:p>
          <a:p>
            <a:r>
              <a:rPr lang="en-US" dirty="0"/>
              <a:t>- Partner co-marketing and brand collaboration</a:t>
            </a:r>
          </a:p>
          <a:p>
            <a:r>
              <a:rPr lang="en-US" dirty="0"/>
              <a:t>- LinkedIn-native video content</a:t>
            </a:r>
          </a:p>
          <a:p>
            <a:r>
              <a:rPr lang="en-US" dirty="0"/>
              <a:t>- Hashtag usage: #IntelXeon, #OpenVINO, #MadeinUSA, #Formula1, #HPC</a:t>
            </a:r>
          </a:p>
          <a:p>
            <a:endParaRPr lang="en-US" dirty="0"/>
          </a:p>
          <a:p>
            <a:r>
              <a:rPr lang="en-US" dirty="0"/>
              <a:t>TARGET MARKET ALIGNMENT:</a:t>
            </a:r>
          </a:p>
          <a:p>
            <a:r>
              <a:rPr lang="en-US" dirty="0"/>
              <a:t>✓ Highly aligned with LinkedIn demographics (professionals, executives, IT decision-makers)</a:t>
            </a:r>
          </a:p>
          <a:p>
            <a:r>
              <a:rPr lang="en-US" dirty="0"/>
              <a:t>✓ Content appeals to high-income, college-educated audience</a:t>
            </a:r>
          </a:p>
          <a:p>
            <a:r>
              <a:rPr lang="en-US" dirty="0"/>
              <a:t>✓ Technical language appropriate for 25-54 age demographic</a:t>
            </a:r>
          </a:p>
          <a:p>
            <a:r>
              <a:rPr lang="en-US" dirty="0"/>
              <a:t>✓ B2B focus matches platform strengths</a:t>
            </a:r>
          </a:p>
          <a:p>
            <a:endParaRPr lang="en-US" dirty="0"/>
          </a:p>
        </p:txBody>
      </p:sp>
    </p:spTree>
    <p:extLst>
      <p:ext uri="{BB962C8B-B14F-4D97-AF65-F5344CB8AC3E}">
        <p14:creationId xmlns:p14="http://schemas.microsoft.com/office/powerpoint/2010/main" val="2690935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Platform URL: https://www.youtube.com/@intel</a:t>
            </a:r>
          </a:p>
          <a:p>
            <a:r>
              <a:rPr lang="en-US" dirty="0"/>
              <a:t>Primary Audience: Tech enthusiasts, gamers, content creators, developers, general consumers</a:t>
            </a:r>
          </a:p>
          <a:p>
            <a:endParaRPr lang="en-US" dirty="0"/>
          </a:p>
          <a:p>
            <a:r>
              <a:rPr lang="en-US" dirty="0"/>
              <a:t>CONTENT THEMES FROM CES 2026 &amp; RECENT ACTIVITY:</a:t>
            </a:r>
          </a:p>
          <a:p>
            <a:endParaRPr lang="en-US" dirty="0"/>
          </a:p>
          <a:p>
            <a:r>
              <a:rPr lang="en-US" dirty="0"/>
              <a:t>A. PRODUCT LAUNCHES &amp; ANNOUNCEMENTS</a:t>
            </a:r>
          </a:p>
          <a:p>
            <a:r>
              <a:rPr lang="en-US" dirty="0"/>
              <a:t>- Intel Core Ultra Series 3 processors (launched at CES 2026)</a:t>
            </a:r>
          </a:p>
          <a:p>
            <a:r>
              <a:rPr lang="en-US" dirty="0"/>
              <a:t>- First AI PC platform built on Intel's 18A process technology</a:t>
            </a:r>
          </a:p>
          <a:p>
            <a:r>
              <a:rPr lang="en-US" dirty="0"/>
              <a:t>- Gaming handhelds with custom chip announcements</a:t>
            </a:r>
          </a:p>
          <a:p>
            <a:r>
              <a:rPr lang="en-US" dirty="0"/>
              <a:t>- Discrete-level graphics capabilities</a:t>
            </a:r>
          </a:p>
          <a:p>
            <a:endParaRPr lang="en-US" dirty="0"/>
          </a:p>
          <a:p>
            <a:r>
              <a:rPr lang="en-US" dirty="0"/>
              <a:t>B. CONSUMER-FOCUSED EDUCATION</a:t>
            </a:r>
          </a:p>
          <a:p>
            <a:r>
              <a:rPr lang="en-US" dirty="0"/>
              <a:t>- AI PC explainer videos</a:t>
            </a:r>
          </a:p>
          <a:p>
            <a:r>
              <a:rPr lang="en-US" dirty="0"/>
              <a:t>- "What makes an AI PC different?" content</a:t>
            </a:r>
          </a:p>
          <a:p>
            <a:r>
              <a:rPr lang="en-US" dirty="0"/>
              <a:t>- Battery life demonstrations (best of any Intel generation)</a:t>
            </a:r>
          </a:p>
          <a:p>
            <a:r>
              <a:rPr lang="en-US" dirty="0"/>
              <a:t>- Gaming performance showcases</a:t>
            </a:r>
          </a:p>
          <a:p>
            <a:endParaRPr lang="en-US" dirty="0"/>
          </a:p>
          <a:p>
            <a:r>
              <a:rPr lang="en-US" dirty="0"/>
              <a:t>C. CREATIVE INSTALLATIONS &amp; BRAND EXPERIENCES</a:t>
            </a:r>
          </a:p>
          <a:p>
            <a:r>
              <a:rPr lang="en-US" dirty="0"/>
              <a:t>- 42,000 LEGO brick art installation at CES 2026</a:t>
            </a:r>
          </a:p>
          <a:p>
            <a:r>
              <a:rPr lang="en-US" dirty="0"/>
              <a:t>- Behind-the-scenes manufacturing content</a:t>
            </a:r>
          </a:p>
          <a:p>
            <a:r>
              <a:rPr lang="en-US" dirty="0"/>
              <a:t>- Event coverage and keynote presentations</a:t>
            </a:r>
          </a:p>
          <a:p>
            <a:r>
              <a:rPr lang="en-US" dirty="0"/>
              <a:t>- Product unboxing and hands-on reviews</a:t>
            </a:r>
          </a:p>
          <a:p>
            <a:endParaRPr lang="en-US" dirty="0"/>
          </a:p>
          <a:p>
            <a:r>
              <a:rPr lang="en-US" dirty="0"/>
              <a:t>D. TECHNOLOGY DEMONSTRATIONS</a:t>
            </a:r>
          </a:p>
          <a:p>
            <a:r>
              <a:rPr lang="en-US" dirty="0"/>
              <a:t>- Desktop-class gaming on mobile devices</a:t>
            </a:r>
          </a:p>
          <a:p>
            <a:r>
              <a:rPr lang="en-US" dirty="0"/>
              <a:t>- Edge AI and "agentic actioning" capabilities</a:t>
            </a:r>
          </a:p>
          <a:p>
            <a:r>
              <a:rPr lang="en-US" dirty="0"/>
              <a:t>- Content creation workflow optimizations</a:t>
            </a:r>
          </a:p>
          <a:p>
            <a:r>
              <a:rPr lang="en-US" dirty="0"/>
              <a:t>- Real-world performance benchmarks</a:t>
            </a:r>
          </a:p>
          <a:p>
            <a:endParaRPr lang="en-US" dirty="0"/>
          </a:p>
          <a:p>
            <a:r>
              <a:rPr lang="en-US" dirty="0"/>
              <a:t>E. PARTNER ECOSYSTEM CONTENT</a:t>
            </a:r>
          </a:p>
          <a:p>
            <a:r>
              <a:rPr lang="en-US" dirty="0"/>
              <a:t>- OEM partner collaborations (Dell, HP, Lenovo mentions)</a:t>
            </a:r>
          </a:p>
          <a:p>
            <a:r>
              <a:rPr lang="en-US" dirty="0"/>
              <a:t>- Availability dates (Core Ultra Series 3: January 27, 2026)</a:t>
            </a:r>
          </a:p>
          <a:p>
            <a:r>
              <a:rPr lang="en-US" dirty="0"/>
              <a:t>- Retail partner announcements</a:t>
            </a:r>
          </a:p>
          <a:p>
            <a:r>
              <a:rPr lang="en-US" dirty="0"/>
              <a:t>- Developer tools and resources</a:t>
            </a:r>
          </a:p>
          <a:p>
            <a:endParaRPr lang="en-US" dirty="0"/>
          </a:p>
          <a:p>
            <a:r>
              <a:rPr lang="en-US" dirty="0"/>
              <a:t>ENGAGEMENT STRATEGY:</a:t>
            </a:r>
          </a:p>
          <a:p>
            <a:r>
              <a:rPr lang="en-US" dirty="0"/>
              <a:t>- Long-form explainer videos</a:t>
            </a:r>
          </a:p>
          <a:p>
            <a:r>
              <a:rPr lang="en-US" dirty="0"/>
              <a:t>- Product demonstration videos</a:t>
            </a:r>
          </a:p>
          <a:p>
            <a:r>
              <a:rPr lang="en-US" dirty="0"/>
              <a:t>- Event coverage and keynotes</a:t>
            </a:r>
          </a:p>
          <a:p>
            <a:r>
              <a:rPr lang="en-US" dirty="0"/>
              <a:t>- User testimonials and case studies</a:t>
            </a:r>
          </a:p>
          <a:p>
            <a:r>
              <a:rPr lang="en-US" dirty="0"/>
              <a:t>- How-to tutorials for developers</a:t>
            </a:r>
          </a:p>
          <a:p>
            <a:r>
              <a:rPr lang="en-US" dirty="0"/>
              <a:t>- Gaming content and benchmarks</a:t>
            </a:r>
          </a:p>
          <a:p>
            <a:endParaRPr lang="en-US" dirty="0"/>
          </a:p>
          <a:p>
            <a:r>
              <a:rPr lang="en-US" dirty="0"/>
              <a:t>TARGET MARKET ALIGNMENT:</a:t>
            </a:r>
          </a:p>
          <a:p>
            <a:r>
              <a:rPr lang="en-US" dirty="0"/>
              <a:t>✓ Broad appeal to 25-34 age demographic (YouTube's largest segment)</a:t>
            </a:r>
          </a:p>
          <a:p>
            <a:r>
              <a:rPr lang="en-US" dirty="0"/>
              <a:t>✓ Content for both technical and general audiences</a:t>
            </a:r>
          </a:p>
          <a:p>
            <a:r>
              <a:rPr lang="en-US" dirty="0"/>
              <a:t>✓ Gaming content targets 18-35 enthusiast market</a:t>
            </a:r>
          </a:p>
          <a:p>
            <a:r>
              <a:rPr lang="en-US" dirty="0"/>
              <a:t>✓ Educational format suits college-educated viewers</a:t>
            </a:r>
          </a:p>
          <a:p>
            <a:r>
              <a:rPr lang="en-US" dirty="0"/>
              <a:t>✓ Accessible to diverse income levels</a:t>
            </a:r>
          </a:p>
          <a:p>
            <a:endParaRPr lang="en-US" dirty="0"/>
          </a:p>
          <a:p>
            <a:endParaRPr lang="en-US" dirty="0"/>
          </a:p>
        </p:txBody>
      </p:sp>
    </p:spTree>
    <p:extLst>
      <p:ext uri="{BB962C8B-B14F-4D97-AF65-F5344CB8AC3E}">
        <p14:creationId xmlns:p14="http://schemas.microsoft.com/office/powerpoint/2010/main" val="4211299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Platform URL: https://www.facebook.com/Intel</a:t>
            </a:r>
          </a:p>
          <a:p>
            <a:r>
              <a:rPr lang="en-US" dirty="0"/>
              <a:t>Primary Audience: General consumers, tech enthusiasts, brand followers, diverse age groups</a:t>
            </a:r>
          </a:p>
          <a:p>
            <a:endParaRPr lang="en-US" dirty="0"/>
          </a:p>
          <a:p>
            <a:r>
              <a:rPr lang="en-US" dirty="0"/>
              <a:t>CONTENT THEMES &amp; COMMUNITY ENGAGEMENT:</a:t>
            </a:r>
          </a:p>
          <a:p>
            <a:endParaRPr lang="en-US" dirty="0"/>
          </a:p>
          <a:p>
            <a:r>
              <a:rPr lang="en-US" dirty="0"/>
              <a:t>A. CONSUMER PRODUCT AWARENESS</a:t>
            </a:r>
          </a:p>
          <a:p>
            <a:r>
              <a:rPr lang="en-US" dirty="0"/>
              <a:t>- AI PC announcements and availability</a:t>
            </a:r>
          </a:p>
          <a:p>
            <a:r>
              <a:rPr lang="en-US" dirty="0"/>
              <a:t>- Core Ultra Series 3 launch promotions</a:t>
            </a:r>
          </a:p>
          <a:p>
            <a:r>
              <a:rPr lang="en-US" dirty="0"/>
              <a:t>- Gaming PC builds and configurations</a:t>
            </a:r>
          </a:p>
          <a:p>
            <a:r>
              <a:rPr lang="en-US" dirty="0"/>
              <a:t>- Holiday shopping guides and deals</a:t>
            </a:r>
          </a:p>
          <a:p>
            <a:endParaRPr lang="en-US" dirty="0"/>
          </a:p>
          <a:p>
            <a:r>
              <a:rPr lang="en-US" dirty="0"/>
              <a:t>B. COMPANY NEWS &amp; MILESTONES</a:t>
            </a:r>
          </a:p>
          <a:p>
            <a:r>
              <a:rPr lang="en-US" dirty="0"/>
              <a:t>- CEO Lip-Bu Tan meeting with President Trump (January 8, 2026)</a:t>
            </a:r>
          </a:p>
          <a:p>
            <a:r>
              <a:rPr lang="en-US" dirty="0"/>
              <a:t>- U.S. government 10% stake announcement</a:t>
            </a:r>
          </a:p>
          <a:p>
            <a:r>
              <a:rPr lang="en-US" dirty="0"/>
              <a:t>- Manufacturing facility expansions</a:t>
            </a:r>
          </a:p>
          <a:p>
            <a:r>
              <a:rPr lang="en-US" dirty="0"/>
              <a:t>- Stock performance and business updates</a:t>
            </a:r>
          </a:p>
          <a:p>
            <a:endParaRPr lang="en-US" dirty="0"/>
          </a:p>
          <a:p>
            <a:r>
              <a:rPr lang="en-US" dirty="0"/>
              <a:t>C. INNOVATION STORYTELLING</a:t>
            </a:r>
          </a:p>
          <a:p>
            <a:r>
              <a:rPr lang="en-US" dirty="0"/>
              <a:t>- "Intel Inside" brand reinforcement</a:t>
            </a:r>
          </a:p>
          <a:p>
            <a:r>
              <a:rPr lang="en-US" dirty="0"/>
              <a:t>- Technology heritage and leadership</a:t>
            </a:r>
          </a:p>
          <a:p>
            <a:r>
              <a:rPr lang="en-US" dirty="0"/>
              <a:t>- Made in America manufacturing pride</a:t>
            </a:r>
          </a:p>
          <a:p>
            <a:r>
              <a:rPr lang="en-US" dirty="0"/>
              <a:t>- Job creation and economic impact</a:t>
            </a:r>
          </a:p>
          <a:p>
            <a:endParaRPr lang="en-US" dirty="0"/>
          </a:p>
          <a:p>
            <a:r>
              <a:rPr lang="en-US" dirty="0"/>
              <a:t>D. COMMUNITY ENGAGEMENT</a:t>
            </a:r>
          </a:p>
          <a:p>
            <a:r>
              <a:rPr lang="en-US" dirty="0"/>
              <a:t>- User-generated content sharing</a:t>
            </a:r>
          </a:p>
          <a:p>
            <a:r>
              <a:rPr lang="en-US" dirty="0"/>
              <a:t>- Tech support and customer service</a:t>
            </a:r>
          </a:p>
          <a:p>
            <a:r>
              <a:rPr lang="en-US" dirty="0"/>
              <a:t>- Product giveaways and contests</a:t>
            </a:r>
          </a:p>
          <a:p>
            <a:r>
              <a:rPr lang="en-US" dirty="0"/>
              <a:t>- Event announcements and live streams</a:t>
            </a:r>
          </a:p>
          <a:p>
            <a:endParaRPr lang="en-US" dirty="0"/>
          </a:p>
          <a:p>
            <a:r>
              <a:rPr lang="en-US" dirty="0"/>
              <a:t>E. ACCESSIBILITY &amp; EDUCATION</a:t>
            </a:r>
          </a:p>
          <a:p>
            <a:r>
              <a:rPr lang="en-US" dirty="0"/>
              <a:t>- Simplified technology explanations</a:t>
            </a:r>
          </a:p>
          <a:p>
            <a:r>
              <a:rPr lang="en-US" dirty="0"/>
              <a:t>- Visual infographics and easy-to-digest content</a:t>
            </a:r>
          </a:p>
          <a:p>
            <a:r>
              <a:rPr lang="en-US" dirty="0"/>
              <a:t>- Behind-the-scenes company culture</a:t>
            </a:r>
          </a:p>
          <a:p>
            <a:r>
              <a:rPr lang="en-US" dirty="0"/>
              <a:t>- Employee spotlights and diversity initiatives</a:t>
            </a:r>
          </a:p>
          <a:p>
            <a:endParaRPr lang="en-US" dirty="0"/>
          </a:p>
          <a:p>
            <a:r>
              <a:rPr lang="en-US" dirty="0"/>
              <a:t>ENGAGEMENT STRATEGY:</a:t>
            </a:r>
          </a:p>
          <a:p>
            <a:r>
              <a:rPr lang="en-US" dirty="0"/>
              <a:t>- Shorter, shareable content</a:t>
            </a:r>
          </a:p>
          <a:p>
            <a:r>
              <a:rPr lang="en-US" dirty="0"/>
              <a:t>- Visual-first approach (photos, short videos)</a:t>
            </a:r>
          </a:p>
          <a:p>
            <a:r>
              <a:rPr lang="en-US" dirty="0"/>
              <a:t>- Facebook Reels for quick product highlights</a:t>
            </a:r>
          </a:p>
          <a:p>
            <a:r>
              <a:rPr lang="en-US" dirty="0"/>
              <a:t>- Community comments and customer interaction</a:t>
            </a:r>
          </a:p>
          <a:p>
            <a:r>
              <a:rPr lang="en-US" dirty="0"/>
              <a:t>- Cross-platform promotion of YouTube content</a:t>
            </a:r>
          </a:p>
          <a:p>
            <a:r>
              <a:rPr lang="en-US" dirty="0"/>
              <a:t>- Facebook Live for events</a:t>
            </a:r>
          </a:p>
          <a:p>
            <a:endParaRPr lang="en-US" dirty="0"/>
          </a:p>
          <a:p>
            <a:r>
              <a:rPr lang="en-US" dirty="0"/>
              <a:t>TARGET MARKET ALIGNMENT:</a:t>
            </a:r>
          </a:p>
          <a:p>
            <a:r>
              <a:rPr lang="en-US" dirty="0"/>
              <a:t>✓ Broad age appeal (25-54 strong presence)</a:t>
            </a:r>
          </a:p>
          <a:p>
            <a:r>
              <a:rPr lang="en-US" dirty="0"/>
              <a:t>✓ Accessible to all income and education levels</a:t>
            </a:r>
          </a:p>
          <a:p>
            <a:r>
              <a:rPr lang="en-US" dirty="0"/>
              <a:t>✓ Mix of technical and lifestyle content</a:t>
            </a:r>
          </a:p>
          <a:p>
            <a:r>
              <a:rPr lang="en-US" dirty="0"/>
              <a:t>✓ Family-friendly and shareable</a:t>
            </a:r>
          </a:p>
          <a:p>
            <a:r>
              <a:rPr lang="en-US" dirty="0"/>
              <a:t>✓ Strong Boomer/Gen X engagement potential</a:t>
            </a:r>
          </a:p>
          <a:p>
            <a:endParaRPr lang="en-US" dirty="0"/>
          </a:p>
          <a:p>
            <a:r>
              <a:rPr lang="en-US" dirty="0"/>
              <a:t>========================================</a:t>
            </a:r>
          </a:p>
          <a:p>
            <a:r>
              <a:rPr lang="en-US" dirty="0"/>
              <a:t>CROSS-PLATFORM CONTENT STRATEGY ANALYSIS</a:t>
            </a:r>
          </a:p>
          <a:p>
            <a:r>
              <a:rPr lang="en-US" dirty="0"/>
              <a:t>========================================</a:t>
            </a:r>
          </a:p>
          <a:p>
            <a:endParaRPr lang="en-US" dirty="0"/>
          </a:p>
          <a:p>
            <a:r>
              <a:rPr lang="en-US" dirty="0"/>
              <a:t>CONSISTENT MESSAGING THEMES:</a:t>
            </a:r>
          </a:p>
          <a:p>
            <a:r>
              <a:rPr lang="en-US" dirty="0"/>
              <a:t>1. AI PC Leadership - Positioning Intel as the AI PC innovator</a:t>
            </a:r>
          </a:p>
          <a:p>
            <a:r>
              <a:rPr lang="en-US" dirty="0"/>
              <a:t>2. Manufacturing Excellence - "Made in USA" pride and capability</a:t>
            </a:r>
          </a:p>
          <a:p>
            <a:r>
              <a:rPr lang="en-US" dirty="0"/>
              <a:t>3. Partnership Ecosystem - AWS, OEMs, software partners</a:t>
            </a:r>
          </a:p>
          <a:p>
            <a:r>
              <a:rPr lang="en-US" dirty="0"/>
              <a:t>4. Performance Leadership - Specific benchmarks and metrics</a:t>
            </a:r>
          </a:p>
          <a:p>
            <a:r>
              <a:rPr lang="en-US" dirty="0"/>
              <a:t>5. Innovation Pipeline - 18A process technology, future roadmap</a:t>
            </a:r>
          </a:p>
          <a:p>
            <a:endParaRPr lang="en-US" dirty="0"/>
          </a:p>
          <a:p>
            <a:r>
              <a:rPr lang="en-US" dirty="0"/>
              <a:t>PLATFORM-SPECIFIC ADAPTATIONS:</a:t>
            </a:r>
          </a:p>
          <a:p>
            <a:endParaRPr lang="en-US" dirty="0"/>
          </a:p>
          <a:p>
            <a:r>
              <a:rPr lang="en-US" dirty="0"/>
              <a:t>LinkedIn:</a:t>
            </a:r>
          </a:p>
          <a:p>
            <a:r>
              <a:rPr lang="en-US" dirty="0"/>
              <a:t>- Most technical and B2B-focused</a:t>
            </a:r>
          </a:p>
          <a:p>
            <a:r>
              <a:rPr lang="en-US" dirty="0"/>
              <a:t>- Detailed performance metrics and case studies</a:t>
            </a:r>
          </a:p>
          <a:p>
            <a:r>
              <a:rPr lang="en-US" dirty="0"/>
              <a:t>- Enterprise decision-maker targeting</a:t>
            </a:r>
          </a:p>
          <a:p>
            <a:r>
              <a:rPr lang="en-US" dirty="0"/>
              <a:t>- Professional tone and industry-specific language</a:t>
            </a:r>
          </a:p>
          <a:p>
            <a:endParaRPr lang="en-US" dirty="0"/>
          </a:p>
          <a:p>
            <a:r>
              <a:rPr lang="en-US" dirty="0"/>
              <a:t>YouTube:</a:t>
            </a:r>
          </a:p>
          <a:p>
            <a:r>
              <a:rPr lang="en-US" dirty="0"/>
              <a:t>- Educational and demonstrative</a:t>
            </a:r>
          </a:p>
          <a:p>
            <a:r>
              <a:rPr lang="en-US" dirty="0"/>
              <a:t>- Longer-form content with deep dives</a:t>
            </a:r>
          </a:p>
          <a:p>
            <a:r>
              <a:rPr lang="en-US" dirty="0"/>
              <a:t>- Visual product showcases</a:t>
            </a:r>
          </a:p>
          <a:p>
            <a:r>
              <a:rPr lang="en-US" dirty="0"/>
              <a:t>- Gaming and creative content for enthusiasts</a:t>
            </a:r>
          </a:p>
          <a:p>
            <a:endParaRPr lang="en-US" dirty="0"/>
          </a:p>
          <a:p>
            <a:r>
              <a:rPr lang="en-US" dirty="0"/>
              <a:t>Facebook:</a:t>
            </a:r>
          </a:p>
          <a:p>
            <a:r>
              <a:rPr lang="en-US" dirty="0"/>
              <a:t>- Most accessible and consumer-friendly</a:t>
            </a:r>
          </a:p>
          <a:p>
            <a:r>
              <a:rPr lang="en-US" dirty="0"/>
              <a:t>- Shorter, shareable content</a:t>
            </a:r>
          </a:p>
          <a:p>
            <a:r>
              <a:rPr lang="en-US" dirty="0"/>
              <a:t>- Community building and customer service</a:t>
            </a:r>
          </a:p>
          <a:p>
            <a:r>
              <a:rPr lang="en-US" dirty="0"/>
              <a:t>- Broader lifestyle integration</a:t>
            </a:r>
          </a:p>
          <a:p>
            <a:endParaRPr lang="en-US" dirty="0"/>
          </a:p>
        </p:txBody>
      </p:sp>
    </p:spTree>
    <p:extLst>
      <p:ext uri="{BB962C8B-B14F-4D97-AF65-F5344CB8AC3E}">
        <p14:creationId xmlns:p14="http://schemas.microsoft.com/office/powerpoint/2010/main" val="746372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linkedin.com/company/intel-corporatio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youtube.com/@inte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facebook.com/Inte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0071C5"/>
                </a:solidFill>
              </a:defRPr>
            </a:pPr>
            <a:r>
              <a:t>TARGET MARKET</a:t>
            </a:r>
          </a:p>
        </p:txBody>
      </p:sp>
      <p:sp>
        <p:nvSpPr>
          <p:cNvPr id="3" name="Content Placeholder 2"/>
          <p:cNvSpPr>
            <a:spLocks noGrp="1"/>
          </p:cNvSpPr>
          <p:nvPr>
            <p:ph idx="1"/>
          </p:nvPr>
        </p:nvSpPr>
        <p:spPr/>
        <p:txBody>
          <a:bodyPr/>
          <a:lstStyle/>
          <a:p>
            <a:pPr>
              <a:spcAft>
                <a:spcPts val="1800"/>
              </a:spcAft>
              <a:defRPr sz="1600" i="1"/>
            </a:pPr>
            <a:r>
              <a:t>Intel Corporation - Ideal Customer Profile</a:t>
            </a:r>
          </a:p>
          <a:p>
            <a:pPr>
              <a:spcAft>
                <a:spcPts val="600"/>
              </a:spcAft>
              <a:defRPr sz="1600" b="1">
                <a:solidFill>
                  <a:srgbClr val="0071C5"/>
                </a:solidFill>
              </a:defRPr>
            </a:pPr>
            <a:r>
              <a:t>AGE</a:t>
            </a:r>
          </a:p>
          <a:p>
            <a:pPr lvl="1">
              <a:spcAft>
                <a:spcPts val="300"/>
              </a:spcAft>
              <a:defRPr sz="1300"/>
            </a:pPr>
            <a:r>
              <a:t>Primary: 25-54 years old (core professionals)</a:t>
            </a:r>
          </a:p>
          <a:p>
            <a:pPr lvl="1">
              <a:spcAft>
                <a:spcPts val="1200"/>
              </a:spcAft>
              <a:defRPr sz="1300"/>
            </a:pPr>
            <a:r>
              <a:t>Secondary: 18-24 (gaming/students), 55+ (productivity users)</a:t>
            </a:r>
          </a:p>
          <a:p>
            <a:pPr>
              <a:spcAft>
                <a:spcPts val="600"/>
              </a:spcAft>
              <a:defRPr sz="1600" b="1">
                <a:solidFill>
                  <a:srgbClr val="0071C5"/>
                </a:solidFill>
              </a:defRPr>
            </a:pPr>
            <a:r>
              <a:t>INCOME</a:t>
            </a:r>
          </a:p>
          <a:p>
            <a:pPr lvl="1">
              <a:spcAft>
                <a:spcPts val="300"/>
              </a:spcAft>
              <a:defRPr sz="1300"/>
            </a:pPr>
            <a:r>
              <a:t>Consumer: $50,000 - $150,000+ annually</a:t>
            </a:r>
          </a:p>
          <a:p>
            <a:pPr lvl="1">
              <a:spcAft>
                <a:spcPts val="1200"/>
              </a:spcAft>
              <a:defRPr sz="1300"/>
            </a:pPr>
            <a:r>
              <a:t>Enterprise: Organizations with $500,000+ IT budgets</a:t>
            </a:r>
          </a:p>
          <a:p>
            <a:pPr>
              <a:spcAft>
                <a:spcPts val="600"/>
              </a:spcAft>
              <a:defRPr sz="1600" b="1">
                <a:solidFill>
                  <a:srgbClr val="0071C5"/>
                </a:solidFill>
              </a:defRPr>
            </a:pPr>
            <a:r>
              <a:t>EDUCATION</a:t>
            </a:r>
          </a:p>
          <a:p>
            <a:pPr lvl="1">
              <a:spcAft>
                <a:spcPts val="300"/>
              </a:spcAft>
              <a:defRPr sz="1300"/>
            </a:pPr>
            <a:r>
              <a:t>College-educated professionals and technical specialists</a:t>
            </a:r>
          </a:p>
          <a:p>
            <a:pPr lvl="1">
              <a:spcAft>
                <a:spcPts val="1200"/>
              </a:spcAft>
              <a:defRPr sz="1300"/>
            </a:pPr>
            <a:r>
              <a:t>IT decision-makers and STEM students</a:t>
            </a:r>
          </a:p>
          <a:p>
            <a:pPr>
              <a:spcAft>
                <a:spcPts val="600"/>
              </a:spcAft>
              <a:defRPr sz="1600" b="1">
                <a:solidFill>
                  <a:srgbClr val="0071C5"/>
                </a:solidFill>
              </a:defRPr>
            </a:pPr>
            <a:r>
              <a:t>GENDER</a:t>
            </a:r>
          </a:p>
          <a:p>
            <a:pPr lvl="1">
              <a:spcAft>
                <a:spcPts val="1200"/>
              </a:spcAft>
              <a:defRPr sz="1300"/>
            </a:pPr>
            <a:r>
              <a:t>All genders - Technology professionals across diverse demographics</a:t>
            </a:r>
          </a:p>
          <a:p>
            <a:pPr>
              <a:spcAft>
                <a:spcPts val="600"/>
              </a:spcAft>
              <a:defRPr sz="1600" b="1">
                <a:solidFill>
                  <a:srgbClr val="0071C5"/>
                </a:solidFill>
              </a:defRPr>
            </a:pPr>
            <a:r>
              <a:t>OCCUPATION</a:t>
            </a:r>
          </a:p>
          <a:p>
            <a:pPr lvl="1">
              <a:spcAft>
                <a:spcPts val="300"/>
              </a:spcAft>
              <a:defRPr sz="1300"/>
            </a:pPr>
            <a:r>
              <a:t>Tech professionals, engineers, developers, data scientists</a:t>
            </a:r>
          </a:p>
          <a:p>
            <a:pPr lvl="1">
              <a:defRPr sz="1300"/>
            </a:pPr>
            <a:r>
              <a:t>Content creators, business executives, competitive gamers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0077B5"/>
                </a:solidFill>
              </a:defRPr>
            </a:pPr>
            <a:r>
              <a:t>LINKEDIN TARGET MARKET</a:t>
            </a:r>
          </a:p>
        </p:txBody>
      </p:sp>
      <p:sp>
        <p:nvSpPr>
          <p:cNvPr id="3" name="Content Placeholder 2"/>
          <p:cNvSpPr>
            <a:spLocks noGrp="1"/>
          </p:cNvSpPr>
          <p:nvPr>
            <p:ph idx="1"/>
          </p:nvPr>
        </p:nvSpPr>
        <p:spPr/>
        <p:txBody>
          <a:bodyPr/>
          <a:lstStyle/>
          <a:p>
            <a:pPr>
              <a:spcAft>
                <a:spcPts val="1800"/>
              </a:spcAft>
              <a:defRPr sz="1600" i="1"/>
            </a:pPr>
            <a:r>
              <a:t>Professional Networking Platform</a:t>
            </a:r>
          </a:p>
          <a:p>
            <a:pPr>
              <a:spcAft>
                <a:spcPts val="600"/>
              </a:spcAft>
              <a:defRPr sz="1600" b="1">
                <a:solidFill>
                  <a:srgbClr val="0077B5"/>
                </a:solidFill>
              </a:defRPr>
            </a:pPr>
            <a:r>
              <a:t>AGE</a:t>
            </a:r>
          </a:p>
          <a:p>
            <a:pPr lvl="1">
              <a:spcAft>
                <a:spcPts val="300"/>
              </a:spcAft>
              <a:defRPr sz="1300"/>
            </a:pPr>
            <a:r>
              <a:t>Primary: 25-34 years old (50-60% of users)</a:t>
            </a:r>
          </a:p>
          <a:p>
            <a:pPr lvl="1">
              <a:spcAft>
                <a:spcPts val="1200"/>
              </a:spcAft>
              <a:defRPr sz="1300"/>
            </a:pPr>
            <a:r>
              <a:t>Secondary: 35-54 years old (professionals, executives)</a:t>
            </a:r>
          </a:p>
          <a:p>
            <a:pPr>
              <a:spcAft>
                <a:spcPts val="600"/>
              </a:spcAft>
              <a:defRPr sz="1600" b="1">
                <a:solidFill>
                  <a:srgbClr val="0077B5"/>
                </a:solidFill>
              </a:defRPr>
            </a:pPr>
            <a:r>
              <a:t>INCOME</a:t>
            </a:r>
          </a:p>
          <a:p>
            <a:pPr lvl="1">
              <a:spcAft>
                <a:spcPts val="300"/>
              </a:spcAft>
              <a:defRPr sz="1300"/>
            </a:pPr>
            <a:r>
              <a:t>54% of U.S. users earn $100,000+ annually</a:t>
            </a:r>
          </a:p>
          <a:p>
            <a:pPr lvl="1">
              <a:spcAft>
                <a:spcPts val="1200"/>
              </a:spcAft>
              <a:defRPr sz="1300"/>
            </a:pPr>
            <a:r>
              <a:t>High-income households dominate (53% affluent professionals)</a:t>
            </a:r>
          </a:p>
          <a:p>
            <a:pPr>
              <a:spcAft>
                <a:spcPts val="600"/>
              </a:spcAft>
              <a:defRPr sz="1600" b="1">
                <a:solidFill>
                  <a:srgbClr val="0077B5"/>
                </a:solidFill>
              </a:defRPr>
            </a:pPr>
            <a:r>
              <a:t>EDUCATION</a:t>
            </a:r>
          </a:p>
          <a:p>
            <a:pPr lvl="1">
              <a:spcAft>
                <a:spcPts val="1200"/>
              </a:spcAft>
              <a:defRPr sz="1300"/>
            </a:pPr>
            <a:r>
              <a:t>52%+ hold college degrees (highest among social platforms)</a:t>
            </a:r>
          </a:p>
          <a:p>
            <a:pPr>
              <a:spcAft>
                <a:spcPts val="600"/>
              </a:spcAft>
              <a:defRPr sz="1600" b="1">
                <a:solidFill>
                  <a:srgbClr val="0077B5"/>
                </a:solidFill>
              </a:defRPr>
            </a:pPr>
            <a:r>
              <a:t>GENDER</a:t>
            </a:r>
          </a:p>
          <a:p>
            <a:pPr lvl="1">
              <a:spcAft>
                <a:spcPts val="1200"/>
              </a:spcAft>
              <a:defRPr sz="1300"/>
            </a:pPr>
            <a:r>
              <a:t>56% Male, 44% Female</a:t>
            </a:r>
          </a:p>
          <a:p>
            <a:pPr>
              <a:defRPr sz="1200" u="sng">
                <a:solidFill>
                  <a:srgbClr val="0077B5"/>
                </a:solidFill>
              </a:defRPr>
            </a:pPr>
            <a:r>
              <a:rPr sz="1400" u="sng">
                <a:solidFill>
                  <a:srgbClr val="0077B5"/>
                </a:solidFill>
                <a:hlinkClick r:id="rId3"/>
              </a:rPr>
              <a:t>Intel on LinkedIn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0000"/>
                </a:solidFill>
              </a:defRPr>
            </a:pPr>
            <a:r>
              <a:t>YOUTUBE TARGET MARKET</a:t>
            </a:r>
          </a:p>
        </p:txBody>
      </p:sp>
      <p:sp>
        <p:nvSpPr>
          <p:cNvPr id="3" name="Content Placeholder 2"/>
          <p:cNvSpPr>
            <a:spLocks noGrp="1"/>
          </p:cNvSpPr>
          <p:nvPr>
            <p:ph idx="1"/>
          </p:nvPr>
        </p:nvSpPr>
        <p:spPr/>
        <p:txBody>
          <a:bodyPr/>
          <a:lstStyle/>
          <a:p>
            <a:pPr>
              <a:spcAft>
                <a:spcPts val="1800"/>
              </a:spcAft>
              <a:defRPr sz="1600" i="1"/>
            </a:pPr>
            <a:r>
              <a:rPr dirty="0"/>
              <a:t>Video Content &amp; Entertainment Platform</a:t>
            </a:r>
          </a:p>
          <a:p>
            <a:pPr>
              <a:spcAft>
                <a:spcPts val="600"/>
              </a:spcAft>
              <a:defRPr sz="1600" b="1">
                <a:solidFill>
                  <a:srgbClr val="FF0000"/>
                </a:solidFill>
              </a:defRPr>
            </a:pPr>
            <a:r>
              <a:rPr dirty="0"/>
              <a:t>AGE</a:t>
            </a:r>
          </a:p>
          <a:p>
            <a:pPr lvl="1">
              <a:spcAft>
                <a:spcPts val="300"/>
              </a:spcAft>
              <a:defRPr sz="1300"/>
            </a:pPr>
            <a:r>
              <a:rPr dirty="0"/>
              <a:t>Primary: 25-34 years old (largest segment at 21.5%)</a:t>
            </a:r>
          </a:p>
          <a:p>
            <a:pPr lvl="1">
              <a:spcAft>
                <a:spcPts val="300"/>
              </a:spcAft>
              <a:defRPr sz="1300"/>
            </a:pPr>
            <a:r>
              <a:rPr dirty="0"/>
              <a:t>Secondary: 18-24 (23.5%), 35-54 (39.5% combined)</a:t>
            </a:r>
          </a:p>
          <a:p>
            <a:pPr lvl="1">
              <a:spcAft>
                <a:spcPts val="1200"/>
              </a:spcAft>
              <a:defRPr sz="1300"/>
            </a:pPr>
            <a:r>
              <a:rPr dirty="0"/>
              <a:t>56% of users are Gen Z and Millennials</a:t>
            </a:r>
          </a:p>
          <a:p>
            <a:pPr>
              <a:spcAft>
                <a:spcPts val="600"/>
              </a:spcAft>
              <a:defRPr sz="1600" b="1">
                <a:solidFill>
                  <a:srgbClr val="FF0000"/>
                </a:solidFill>
              </a:defRPr>
            </a:pPr>
            <a:r>
              <a:rPr dirty="0"/>
              <a:t>INCOME</a:t>
            </a:r>
          </a:p>
          <a:p>
            <a:pPr lvl="1">
              <a:spcAft>
                <a:spcPts val="300"/>
              </a:spcAft>
              <a:defRPr sz="1300"/>
            </a:pPr>
            <a:r>
              <a:rPr dirty="0"/>
              <a:t>87% of users earning $70,000-$99,999 use YouTube</a:t>
            </a:r>
          </a:p>
          <a:p>
            <a:pPr lvl="1">
              <a:spcAft>
                <a:spcPts val="1200"/>
              </a:spcAft>
              <a:defRPr sz="1300"/>
            </a:pPr>
            <a:r>
              <a:rPr dirty="0"/>
              <a:t>78-87% across all income levels (broad appeal)</a:t>
            </a:r>
          </a:p>
          <a:p>
            <a:pPr>
              <a:spcAft>
                <a:spcPts val="600"/>
              </a:spcAft>
              <a:defRPr sz="1600" b="1">
                <a:solidFill>
                  <a:srgbClr val="FF0000"/>
                </a:solidFill>
              </a:defRPr>
            </a:pPr>
            <a:r>
              <a:rPr dirty="0"/>
              <a:t>EDUCATION</a:t>
            </a:r>
          </a:p>
          <a:p>
            <a:pPr lvl="1">
              <a:spcAft>
                <a:spcPts val="300"/>
              </a:spcAft>
              <a:defRPr sz="1300"/>
            </a:pPr>
            <a:r>
              <a:rPr dirty="0"/>
              <a:t>90% of adults with college+ education use YouTube</a:t>
            </a:r>
          </a:p>
          <a:p>
            <a:pPr lvl="1">
              <a:spcAft>
                <a:spcPts val="1200"/>
              </a:spcAft>
              <a:defRPr sz="1300"/>
            </a:pPr>
            <a:r>
              <a:rPr dirty="0"/>
              <a:t>79% with high school education or less</a:t>
            </a:r>
          </a:p>
          <a:p>
            <a:pPr>
              <a:spcAft>
                <a:spcPts val="600"/>
              </a:spcAft>
              <a:defRPr sz="1600" b="1">
                <a:solidFill>
                  <a:srgbClr val="FF0000"/>
                </a:solidFill>
              </a:defRPr>
            </a:pPr>
            <a:r>
              <a:rPr dirty="0"/>
              <a:t>GENDER</a:t>
            </a:r>
          </a:p>
          <a:p>
            <a:pPr lvl="1">
              <a:spcAft>
                <a:spcPts val="300"/>
              </a:spcAft>
              <a:defRPr sz="1300"/>
            </a:pPr>
            <a:r>
              <a:rPr dirty="0"/>
              <a:t>Global: 53.2% Male, 46.8% Female</a:t>
            </a:r>
          </a:p>
          <a:p>
            <a:pPr lvl="1">
              <a:spcAft>
                <a:spcPts val="1200"/>
              </a:spcAft>
              <a:defRPr sz="1300"/>
            </a:pPr>
            <a:r>
              <a:rPr dirty="0"/>
              <a:t>U.S.: 50.2% Female, 49.8% Male (nearly equal)</a:t>
            </a:r>
          </a:p>
          <a:p>
            <a:pPr>
              <a:defRPr sz="1200" u="sng">
                <a:solidFill>
                  <a:srgbClr val="FF0000"/>
                </a:solidFill>
              </a:defRPr>
            </a:pPr>
            <a:r>
              <a:rPr sz="1400" u="sng" dirty="0">
                <a:solidFill>
                  <a:srgbClr val="FF0000"/>
                </a:solidFill>
                <a:hlinkClick r:id="rId3"/>
              </a:rPr>
              <a:t>Intel on YouTube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1877F2"/>
                </a:solidFill>
              </a:defRPr>
            </a:pPr>
            <a:r>
              <a:t>FACEBOOK TARGET MARKET</a:t>
            </a:r>
          </a:p>
        </p:txBody>
      </p:sp>
      <p:sp>
        <p:nvSpPr>
          <p:cNvPr id="3" name="Content Placeholder 2"/>
          <p:cNvSpPr>
            <a:spLocks noGrp="1"/>
          </p:cNvSpPr>
          <p:nvPr>
            <p:ph idx="1"/>
          </p:nvPr>
        </p:nvSpPr>
        <p:spPr/>
        <p:txBody>
          <a:bodyPr/>
          <a:lstStyle/>
          <a:p>
            <a:pPr>
              <a:spcAft>
                <a:spcPts val="1800"/>
              </a:spcAft>
              <a:defRPr sz="1600" i="1"/>
            </a:pPr>
            <a:r>
              <a:t>Social Networking &amp; Community Platform</a:t>
            </a:r>
          </a:p>
          <a:p>
            <a:pPr>
              <a:spcAft>
                <a:spcPts val="600"/>
              </a:spcAft>
              <a:defRPr sz="1600" b="1">
                <a:solidFill>
                  <a:srgbClr val="1877F2"/>
                </a:solidFill>
              </a:defRPr>
            </a:pPr>
            <a:r>
              <a:t>AGE</a:t>
            </a:r>
          </a:p>
          <a:p>
            <a:pPr lvl="1">
              <a:spcAft>
                <a:spcPts val="300"/>
              </a:spcAft>
              <a:defRPr sz="1300"/>
            </a:pPr>
            <a:r>
              <a:t>Primary: 25-34 years old (31.1% of users)</a:t>
            </a:r>
          </a:p>
          <a:p>
            <a:pPr lvl="1">
              <a:spcAft>
                <a:spcPts val="300"/>
              </a:spcAft>
              <a:defRPr sz="1300"/>
            </a:pPr>
            <a:r>
              <a:t>Strong presence: Gen X, Baby Boomers, Millennials</a:t>
            </a:r>
          </a:p>
          <a:p>
            <a:pPr lvl="1">
              <a:spcAft>
                <a:spcPts val="1200"/>
              </a:spcAft>
              <a:defRPr sz="1300"/>
            </a:pPr>
            <a:r>
              <a:t>Broad age range: 13+ (mature audience skew 25-54)</a:t>
            </a:r>
          </a:p>
          <a:p>
            <a:pPr>
              <a:spcAft>
                <a:spcPts val="600"/>
              </a:spcAft>
              <a:defRPr sz="1600" b="1">
                <a:solidFill>
                  <a:srgbClr val="1877F2"/>
                </a:solidFill>
              </a:defRPr>
            </a:pPr>
            <a:r>
              <a:t>INCOME</a:t>
            </a:r>
          </a:p>
          <a:p>
            <a:pPr lvl="1">
              <a:spcAft>
                <a:spcPts val="300"/>
              </a:spcAft>
              <a:defRPr sz="1300"/>
            </a:pPr>
            <a:r>
              <a:t>Appeals to all income levels (lower, middle, upper class)</a:t>
            </a:r>
          </a:p>
          <a:p>
            <a:pPr lvl="1">
              <a:spcAft>
                <a:spcPts val="1200"/>
              </a:spcAft>
              <a:defRPr sz="1300"/>
            </a:pPr>
            <a:r>
              <a:t>Diverse financial backgrounds (broad accessibility)</a:t>
            </a:r>
          </a:p>
          <a:p>
            <a:pPr>
              <a:spcAft>
                <a:spcPts val="600"/>
              </a:spcAft>
              <a:defRPr sz="1600" b="1">
                <a:solidFill>
                  <a:srgbClr val="1877F2"/>
                </a:solidFill>
              </a:defRPr>
            </a:pPr>
            <a:r>
              <a:t>EDUCATION</a:t>
            </a:r>
          </a:p>
          <a:p>
            <a:pPr lvl="1">
              <a:spcAft>
                <a:spcPts val="300"/>
              </a:spcAft>
              <a:defRPr sz="1300"/>
            </a:pPr>
            <a:r>
              <a:t>70% of U.S. adults with college degrees use Facebook</a:t>
            </a:r>
          </a:p>
          <a:p>
            <a:pPr lvl="1">
              <a:spcAft>
                <a:spcPts val="1200"/>
              </a:spcAft>
              <a:defRPr sz="1300"/>
            </a:pPr>
            <a:r>
              <a:t>63% with high school diploma</a:t>
            </a:r>
          </a:p>
          <a:p>
            <a:pPr>
              <a:spcAft>
                <a:spcPts val="600"/>
              </a:spcAft>
              <a:defRPr sz="1600" b="1">
                <a:solidFill>
                  <a:srgbClr val="1877F2"/>
                </a:solidFill>
              </a:defRPr>
            </a:pPr>
            <a:r>
              <a:t>GENDER</a:t>
            </a:r>
          </a:p>
          <a:p>
            <a:pPr lvl="1">
              <a:spcAft>
                <a:spcPts val="300"/>
              </a:spcAft>
              <a:defRPr sz="1300"/>
            </a:pPr>
            <a:r>
              <a:t>Global: 56.8% Male, 43.2% Female</a:t>
            </a:r>
          </a:p>
          <a:p>
            <a:pPr lvl="1">
              <a:spcAft>
                <a:spcPts val="1200"/>
              </a:spcAft>
              <a:defRPr sz="1300"/>
            </a:pPr>
            <a:r>
              <a:t>Slightly male-dominant but broad appeal</a:t>
            </a:r>
          </a:p>
          <a:p>
            <a:pPr>
              <a:defRPr sz="1200" u="sng">
                <a:solidFill>
                  <a:srgbClr val="1877F2"/>
                </a:solidFill>
              </a:defRPr>
            </a:pPr>
            <a:r>
              <a:rPr sz="1400" u="sng">
                <a:solidFill>
                  <a:srgbClr val="1877F2"/>
                </a:solidFill>
                <a:hlinkClick r:id="rId3"/>
              </a:rPr>
              <a:t>Intel on Facebook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000" b="1">
                <a:solidFill>
                  <a:srgbClr val="0077B5"/>
                </a:solidFill>
              </a:defRPr>
            </a:pPr>
            <a:r>
              <a:t>LINKEDIN MARKETING MESSAGE</a:t>
            </a:r>
          </a:p>
        </p:txBody>
      </p:sp>
      <p:sp>
        <p:nvSpPr>
          <p:cNvPr id="3" name="Content Placeholder 2"/>
          <p:cNvSpPr>
            <a:spLocks noGrp="1"/>
          </p:cNvSpPr>
          <p:nvPr>
            <p:ph idx="1"/>
          </p:nvPr>
        </p:nvSpPr>
        <p:spPr/>
        <p:txBody>
          <a:bodyPr/>
          <a:lstStyle/>
          <a:p>
            <a:pPr>
              <a:spcAft>
                <a:spcPts val="1800"/>
              </a:spcAft>
              <a:defRPr sz="1600" b="1">
                <a:solidFill>
                  <a:srgbClr val="0077B5"/>
                </a:solidFill>
              </a:defRPr>
            </a:pPr>
            <a:r>
              <a:t>MESSAGE TYPE: Professional Thought Leadership Post</a:t>
            </a:r>
          </a:p>
          <a:p>
            <a:pPr>
              <a:spcAft>
                <a:spcPts val="1200"/>
              </a:spcAft>
              <a:defRPr sz="1200">
                <a:solidFill>
                  <a:srgbClr val="0077B5"/>
                </a:solidFill>
              </a:defRPr>
            </a:pPr>
            <a:r>
              <a:t>━━━━━━━━━━━━━━━━━━━━━━━━━━━━━━━━━</a:t>
            </a:r>
          </a:p>
          <a:p>
            <a:pPr>
              <a:spcAft>
                <a:spcPts val="800"/>
              </a:spcAft>
              <a:defRPr sz="1400" b="1"/>
            </a:pPr>
            <a:r>
              <a:t>MARKETING MESSAGE:</a:t>
            </a:r>
          </a:p>
          <a:p>
            <a:pPr>
              <a:spcAft>
                <a:spcPts val="1200"/>
              </a:spcAft>
              <a:defRPr sz="1300" i="1"/>
            </a:pPr>
            <a:r>
              <a:t>"The future of enterprise computing isn't just faster—it's smarter."</a:t>
            </a:r>
          </a:p>
          <a:p>
            <a:pPr>
              <a:spcAft>
                <a:spcPts val="800"/>
              </a:spcAft>
              <a:defRPr sz="1200"/>
            </a:pPr>
            <a:r>
              <a:t>Intel's latest Xeon 6 processors are redefining what's possible in cloud infrastructure. Our partnership with AWS delivers:</a:t>
            </a:r>
          </a:p>
          <a:p>
            <a:pPr lvl="1">
              <a:spcAft>
                <a:spcPts val="400"/>
              </a:spcAft>
              <a:defRPr sz="1200"/>
            </a:pPr>
            <a:r>
              <a:t>✓ 50% better price-performance on compute-intensive workloads</a:t>
            </a:r>
          </a:p>
          <a:p>
            <a:pPr lvl="1">
              <a:spcAft>
                <a:spcPts val="400"/>
              </a:spcAft>
              <a:defRPr sz="1200"/>
            </a:pPr>
            <a:r>
              <a:t>✓ 3.3x faster financial modeling for risk analysis</a:t>
            </a:r>
          </a:p>
          <a:p>
            <a:pPr lvl="1">
              <a:spcAft>
                <a:spcPts val="1200"/>
              </a:spcAft>
              <a:defRPr sz="1200"/>
            </a:pPr>
            <a:r>
              <a:t>✓ Built on our advanced 18A process—Made in USA</a:t>
            </a:r>
          </a:p>
          <a:p>
            <a:pPr>
              <a:spcAft>
                <a:spcPts val="1200"/>
              </a:spcAft>
              <a:defRPr sz="1200"/>
            </a:pPr>
            <a:r>
              <a:t>For CTOs and IT leaders: It's time to rethink your cloud economics. What breakthrough could your team unlock with compute that's twice as efficient?</a:t>
            </a:r>
          </a:p>
          <a:p>
            <a:pPr>
              <a:spcAft>
                <a:spcPts val="800"/>
              </a:spcAft>
              <a:defRPr sz="1200"/>
            </a:pPr>
            <a:r>
              <a:t>👉 Learn more about Intel + AWS innovation</a:t>
            </a:r>
          </a:p>
          <a:p>
            <a:pPr>
              <a:defRPr sz="1100">
                <a:solidFill>
                  <a:srgbClr val="0077B5"/>
                </a:solidFill>
              </a:defRPr>
            </a:pPr>
            <a:r>
              <a:t>#IntelXeon #CloudComputing #EnterpriseAI #DigitalTransformation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000" b="1">
                <a:solidFill>
                  <a:srgbClr val="FF0000"/>
                </a:solidFill>
              </a:defRPr>
            </a:pPr>
            <a:r>
              <a:t>YOUTUBE MARKETING MESSAGE</a:t>
            </a:r>
          </a:p>
        </p:txBody>
      </p:sp>
      <p:sp>
        <p:nvSpPr>
          <p:cNvPr id="3" name="Content Placeholder 2"/>
          <p:cNvSpPr>
            <a:spLocks noGrp="1"/>
          </p:cNvSpPr>
          <p:nvPr>
            <p:ph idx="1"/>
          </p:nvPr>
        </p:nvSpPr>
        <p:spPr/>
        <p:txBody>
          <a:bodyPr/>
          <a:lstStyle/>
          <a:p>
            <a:pPr>
              <a:spcAft>
                <a:spcPts val="1800"/>
              </a:spcAft>
              <a:defRPr sz="1600" b="1">
                <a:solidFill>
                  <a:srgbClr val="FF0000"/>
                </a:solidFill>
              </a:defRPr>
            </a:pPr>
            <a:r>
              <a:t>MESSAGE TYPE: Product Demo Video / Tutorial</a:t>
            </a:r>
          </a:p>
          <a:p>
            <a:pPr>
              <a:spcAft>
                <a:spcPts val="1200"/>
              </a:spcAft>
              <a:defRPr sz="1200">
                <a:solidFill>
                  <a:srgbClr val="FF0000"/>
                </a:solidFill>
              </a:defRPr>
            </a:pPr>
            <a:r>
              <a:t>━━━━━━━━━━━━━━━━━━━━━━━━━━━━━━━━━</a:t>
            </a:r>
          </a:p>
          <a:p>
            <a:pPr>
              <a:spcAft>
                <a:spcPts val="600"/>
              </a:spcAft>
              <a:defRPr sz="1400" b="1"/>
            </a:pPr>
            <a:r>
              <a:t>VIDEO TITLE:</a:t>
            </a:r>
          </a:p>
          <a:p>
            <a:pPr>
              <a:spcAft>
                <a:spcPts val="1200"/>
              </a:spcAft>
              <a:defRPr sz="1300" i="1"/>
            </a:pPr>
            <a:r>
              <a:t>"Your AI PC is Hiding a Secret Weapon 🤯 | Intel AI Playground Demo"</a:t>
            </a:r>
          </a:p>
          <a:p>
            <a:pPr>
              <a:spcAft>
                <a:spcPts val="800"/>
              </a:spcAft>
              <a:defRPr sz="1400" b="1"/>
            </a:pPr>
            <a:r>
              <a:t>VIDEO SCRIPT OPENING:</a:t>
            </a:r>
          </a:p>
          <a:p>
            <a:pPr>
              <a:spcAft>
                <a:spcPts val="1000"/>
              </a:spcAft>
              <a:defRPr sz="1200"/>
            </a:pPr>
            <a:r>
              <a:t>"What if I told you that YOUR laptop has AI superpowers—and you're not using them? 🚀"</a:t>
            </a:r>
          </a:p>
          <a:p>
            <a:pPr>
              <a:spcAft>
                <a:spcPts val="800"/>
              </a:spcAft>
              <a:defRPr sz="1200"/>
            </a:pPr>
            <a:r>
              <a:t>In this video, we're diving into Intel AI Playground—the FREE app that comes with every Intel Core Ultra device. Watch as we:</a:t>
            </a:r>
          </a:p>
          <a:p>
            <a:pPr lvl="1">
              <a:spcAft>
                <a:spcPts val="400"/>
              </a:spcAft>
              <a:defRPr sz="1100"/>
            </a:pPr>
            <a:r>
              <a:t>🎨 Generate stunning images OFFLINE (no cloud required!)</a:t>
            </a:r>
          </a:p>
          <a:p>
            <a:pPr lvl="1">
              <a:spcAft>
                <a:spcPts val="400"/>
              </a:spcAft>
              <a:defRPr sz="1100"/>
            </a:pPr>
            <a:r>
              <a:t>💬 Chat with AI that keeps your data 100% private</a:t>
            </a:r>
          </a:p>
          <a:p>
            <a:pPr lvl="1">
              <a:spcAft>
                <a:spcPts val="1000"/>
              </a:spcAft>
              <a:defRPr sz="1100"/>
            </a:pPr>
            <a:r>
              <a:t>💻 Get coding help without sending code to the cloud</a:t>
            </a:r>
          </a:p>
          <a:p>
            <a:pPr>
              <a:spcAft>
                <a:spcPts val="1000"/>
              </a:spcAft>
              <a:defRPr sz="1200"/>
            </a:pPr>
            <a:r>
              <a:t>Perfect for creators, developers, and anyone who values privacy. Your data stays on YOUR device—period."</a:t>
            </a:r>
          </a:p>
          <a:p>
            <a:pPr>
              <a:defRPr sz="1000"/>
            </a:pPr>
            <a:r>
              <a:t>🔗 Holiday Buyer's Guide: [link] | 🎮 Best AI PCs for Gaming: [link]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000" b="1">
                <a:solidFill>
                  <a:srgbClr val="1877F2"/>
                </a:solidFill>
              </a:defRPr>
            </a:pPr>
            <a:r>
              <a:t>FACEBOOK MARKETING MESSAGE</a:t>
            </a:r>
          </a:p>
        </p:txBody>
      </p:sp>
      <p:sp>
        <p:nvSpPr>
          <p:cNvPr id="3" name="Content Placeholder 2"/>
          <p:cNvSpPr>
            <a:spLocks noGrp="1"/>
          </p:cNvSpPr>
          <p:nvPr>
            <p:ph idx="1"/>
          </p:nvPr>
        </p:nvSpPr>
        <p:spPr/>
        <p:txBody>
          <a:bodyPr/>
          <a:lstStyle/>
          <a:p>
            <a:pPr>
              <a:spcAft>
                <a:spcPts val="1800"/>
              </a:spcAft>
              <a:defRPr sz="1600" b="1">
                <a:solidFill>
                  <a:srgbClr val="1877F2"/>
                </a:solidFill>
              </a:defRPr>
            </a:pPr>
            <a:r>
              <a:t>MESSAGE TYPE: Picture Ad / Visual Campaign</a:t>
            </a:r>
          </a:p>
          <a:p>
            <a:pPr>
              <a:spcAft>
                <a:spcPts val="1200"/>
              </a:spcAft>
              <a:defRPr sz="1200">
                <a:solidFill>
                  <a:srgbClr val="1877F2"/>
                </a:solidFill>
              </a:defRPr>
            </a:pPr>
            <a:r>
              <a:t>━━━━━━━━━━━━━━━━━━━━━━━━━━━━━━━━━</a:t>
            </a:r>
          </a:p>
          <a:p>
            <a:pPr>
              <a:spcAft>
                <a:spcPts val="600"/>
              </a:spcAft>
              <a:defRPr sz="1400" b="1"/>
            </a:pPr>
            <a:r>
              <a:t>VISUAL CONCEPT:</a:t>
            </a:r>
          </a:p>
          <a:p>
            <a:pPr>
              <a:spcAft>
                <a:spcPts val="1200"/>
              </a:spcAft>
              <a:defRPr sz="1100" i="1"/>
            </a:pPr>
            <a:r>
              <a:t>Image: Split-screen showing traditional laptop vs AI PC with Core Ultra chip. Vibrant, colorful, lifestyle-focused photography.</a:t>
            </a:r>
          </a:p>
          <a:p>
            <a:pPr>
              <a:spcAft>
                <a:spcPts val="800"/>
              </a:spcAft>
              <a:defRPr sz="1400" b="1"/>
            </a:pPr>
            <a:r>
              <a:t>AD COPY:</a:t>
            </a:r>
          </a:p>
          <a:p>
            <a:pPr>
              <a:spcAft>
                <a:spcPts val="1000"/>
              </a:spcAft>
              <a:defRPr sz="1300" b="1"/>
            </a:pPr>
            <a:r>
              <a:t>🇺🇸 PROUDLY MADE IN AMERICA 🇺🇸</a:t>
            </a:r>
          </a:p>
          <a:p>
            <a:pPr>
              <a:spcAft>
                <a:spcPts val="1000"/>
              </a:spcAft>
              <a:defRPr sz="1200"/>
            </a:pPr>
            <a:r>
              <a:t>Meet the Intel Core Ultra Series 3—the AI PC that's changing everything.</a:t>
            </a:r>
          </a:p>
          <a:p>
            <a:pPr lvl="1">
              <a:spcAft>
                <a:spcPts val="400"/>
              </a:spcAft>
              <a:defRPr sz="1100"/>
            </a:pPr>
            <a:r>
              <a:t>✨ All-day battery life that actually lasts</a:t>
            </a:r>
          </a:p>
          <a:p>
            <a:pPr lvl="1">
              <a:spcAft>
                <a:spcPts val="400"/>
              </a:spcAft>
              <a:defRPr sz="1100"/>
            </a:pPr>
            <a:r>
              <a:t>🎮 Desktop-class gaming on the go</a:t>
            </a:r>
          </a:p>
          <a:p>
            <a:pPr lvl="1">
              <a:spcAft>
                <a:spcPts val="400"/>
              </a:spcAft>
              <a:defRPr sz="1100"/>
            </a:pPr>
            <a:r>
              <a:t>🤖 AI that works offline—your privacy protected</a:t>
            </a:r>
          </a:p>
          <a:p>
            <a:pPr lvl="1">
              <a:spcAft>
                <a:spcPts val="1200"/>
              </a:spcAft>
              <a:defRPr sz="1100"/>
            </a:pPr>
            <a:r>
              <a:t>🛠️ Built with our most advanced U.S. technology</a:t>
            </a:r>
          </a:p>
          <a:p>
            <a:pPr>
              <a:spcAft>
                <a:spcPts val="1200"/>
              </a:spcAft>
              <a:defRPr sz="1200"/>
            </a:pPr>
            <a:r>
              <a:t>Available NOW from your favorite retailers. Upgrade to an AI PC today and experience the difference American innovation makes.</a:t>
            </a:r>
          </a:p>
          <a:p>
            <a:pPr>
              <a:spcAft>
                <a:spcPts val="800"/>
              </a:spcAft>
              <a:defRPr sz="1200" b="1"/>
            </a:pPr>
            <a:r>
              <a:t>👉 Shop Intel Core Ultra PCs</a:t>
            </a:r>
          </a:p>
          <a:p>
            <a:pPr>
              <a:defRPr sz="1100" b="1">
                <a:solidFill>
                  <a:srgbClr val="1877F2"/>
                </a:solidFill>
              </a:defRPr>
            </a:pPr>
            <a:r>
              <a:t>[Learn More Button] | [Shop Now Button]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2526</Words>
  <Application>Microsoft Office PowerPoint</Application>
  <PresentationFormat>On-screen Show (4:3)</PresentationFormat>
  <Paragraphs>414</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TARGET MARKET</vt:lpstr>
      <vt:lpstr>LINKEDIN TARGET MARKET</vt:lpstr>
      <vt:lpstr>YOUTUBE TARGET MARKET</vt:lpstr>
      <vt:lpstr>FACEBOOK TARGET MARKET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Louis Rodriguez</cp:lastModifiedBy>
  <cp:revision>2</cp:revision>
  <dcterms:created xsi:type="dcterms:W3CDTF">2013-01-27T09:14:16Z</dcterms:created>
  <dcterms:modified xsi:type="dcterms:W3CDTF">2026-01-13T23:41:34Z</dcterms:modified>
  <cp:category/>
</cp:coreProperties>
</file>
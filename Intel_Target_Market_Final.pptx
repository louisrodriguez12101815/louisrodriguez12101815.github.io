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INTEL CORPORATION - TARGET MARKET BRIEF</a:t>
            </a:r>
          </a:p>
          <a:p>
            <a:r>
              <a:t>========================================</a:t>
            </a:r>
          </a:p>
          <a:p/>
          <a:p>
            <a:r>
              <a:t>MARKET SEGMENTATION STRATEGY</a:t>
            </a:r>
          </a:p>
          <a:p/>
          <a:p>
            <a:r>
              <a:t>Intel employs multi-dimensional market segmentation across B2B and B2C channels, dividing markets by demographics, psychographics, behavioral patterns, and geographic regions.</a:t>
            </a:r>
          </a:p>
          <a:p/>
          <a:p>
            <a:r>
              <a:t>PRIMARY TARGET MARKET DEMOGRAPHICS:</a:t>
            </a:r>
          </a:p>
          <a:p/>
          <a:p>
            <a:r>
              <a:t>Age: 25-54 years old (core segment), with secondary focus on 18-24 (gaming/students) and 55+ (premium productivity users)</a:t>
            </a:r>
          </a:p>
          <a:p/>
          <a:p>
            <a:r>
              <a:t>Income: Middle to upper-middle class ($50,000-$150,000+ annually for consumer segment); Enterprise segment targets organizations with IT budgets exceeding $500,000</a:t>
            </a:r>
          </a:p>
          <a:p/>
          <a:p>
            <a:r>
              <a:t>Education Level: College-educated professionals, technical specialists, IT decision-makers, and students in STEM fields</a:t>
            </a:r>
          </a:p>
          <a:p/>
          <a:p>
            <a:r>
              <a:t>Occupation: Technology professionals, content creators, engineers, business executives, software developers, data scientists, and competitive gamers</a:t>
            </a:r>
          </a:p>
          <a:p/>
          <a:p>
            <a:r>
              <a:t>Geographic Focus: Global presence with concentration in North America, Europe, and Asia-Pacific technology hubs</a:t>
            </a:r>
          </a:p>
          <a:p/>
          <a:p>
            <a:r>
              <a:t>PSYCHOGRAPHIC CHARACTERISTICS:</a:t>
            </a:r>
          </a:p>
          <a:p/>
          <a:p>
            <a:r>
              <a:t>Performance-oriented individuals valuing cutting-edge technology, reliability, and brand reputation. Early adopters seeking innovation in computing power, AI capabilities, and integrated solutions.</a:t>
            </a:r>
          </a:p>
          <a:p/>
          <a:p>
            <a:r>
              <a:t>BEHAVIORAL SEGMENTATION:</a:t>
            </a:r>
          </a:p>
          <a:p/>
          <a:p>
            <a:r>
              <a:t>Heavy technology users requiring high-performance computing for professional workflows, content creation, gaming, data analysis, and enterprise applications. Brand-loyal customers seeking trusted solutions with proven track records.</a:t>
            </a:r>
          </a:p>
          <a:p/>
          <a:p>
            <a:r>
              <a:t>TARGET MARKET STRATEGIES:</a:t>
            </a:r>
          </a:p>
          <a:p/>
          <a:p>
            <a:r>
              <a:t>B2B Strategy: Direct sales to OEMs (Dell, HP, Lenovo), enterprise partnerships, and data center operators through relationship marketing and technical consultation</a:t>
            </a:r>
          </a:p>
          <a:p/>
          <a:p>
            <a:r>
              <a:t>B2C Strategy: Indirect reach through retail partners, online channels, and "Intel Inside" co-branding campaigns emphasizing performance benefits</a:t>
            </a:r>
          </a:p>
          <a:p/>
          <a:p>
            <a:r>
              <a:t>MARKETING RESEARCH APPROACH:</a:t>
            </a:r>
          </a:p>
          <a:p/>
          <a:p>
            <a:r>
              <a:t>Primary Research: Customer surveys, focus groups with IT decision-makers, product testing labs, and partnership feedback mechanisms</a:t>
            </a:r>
          </a:p>
          <a:p/>
          <a:p>
            <a:r>
              <a:t>Secondary Research: Industry reports (Gartner, IDC), competitive analysis, market trend studies, and sales data analytics</a:t>
            </a:r>
          </a:p>
          <a:p/>
          <a:p>
            <a:r>
              <a:t>Sampling Techniques: Stratified sampling across industry verticals, random sampling for consumer sentiment, and convenience sampling at technology trade shows</a:t>
            </a:r>
          </a:p>
          <a:p/>
          <a:p>
            <a:r>
              <a:t>BUYER-SELLER RELATIONSHIP BUILDING:</a:t>
            </a:r>
          </a:p>
          <a:p/>
          <a:p>
            <a:r>
              <a:t>Intel maintains relationships through technical support ecosystems, developer programs, loyalty incentives for OEM partners, and innovation co-development initiatives. Customer satisfaction enhanced via quality assurance programs, extended warranties, and responsive service channels addressing performance optimization and compatibility concerns.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1C5"/>
                </a:solidFill>
              </a:defRPr>
            </a:pPr>
            <a: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  <a:defRPr sz="1600" i="1"/>
            </a:pPr>
            <a:r>
              <a:t>Intel Corporation - Ideal Customer Profile</a:t>
            </a:r>
          </a:p>
          <a:p>
            <a:pPr>
              <a:spcAft>
                <a:spcPts val="600"/>
              </a:spcAft>
              <a:defRPr sz="1600" b="1">
                <a:solidFill>
                  <a:srgbClr val="0071C5"/>
                </a:solidFill>
              </a:defRPr>
            </a:pPr>
            <a:r>
              <a:t>AGE</a:t>
            </a:r>
          </a:p>
          <a:p>
            <a:pPr lvl="1">
              <a:spcAft>
                <a:spcPts val="300"/>
              </a:spcAft>
              <a:defRPr sz="1300"/>
            </a:pPr>
            <a:r>
              <a:t>Primary: 25-54 years old (core professionals)</a:t>
            </a:r>
          </a:p>
          <a:p>
            <a:pPr lvl="1">
              <a:spcAft>
                <a:spcPts val="1200"/>
              </a:spcAft>
              <a:defRPr sz="1300"/>
            </a:pPr>
            <a:r>
              <a:t>Secondary: 18-24 (gaming/students), 55+ (productivity users)</a:t>
            </a:r>
          </a:p>
          <a:p>
            <a:pPr>
              <a:spcAft>
                <a:spcPts val="600"/>
              </a:spcAft>
              <a:defRPr sz="1600" b="1">
                <a:solidFill>
                  <a:srgbClr val="0071C5"/>
                </a:solidFill>
              </a:defRPr>
            </a:pPr>
            <a:r>
              <a:t>INCOME</a:t>
            </a:r>
          </a:p>
          <a:p>
            <a:pPr lvl="1">
              <a:spcAft>
                <a:spcPts val="300"/>
              </a:spcAft>
              <a:defRPr sz="1300"/>
            </a:pPr>
            <a:r>
              <a:t>Consumer: $50,000 - $150,000+ annually</a:t>
            </a:r>
          </a:p>
          <a:p>
            <a:pPr lvl="1">
              <a:spcAft>
                <a:spcPts val="1200"/>
              </a:spcAft>
              <a:defRPr sz="1300"/>
            </a:pPr>
            <a:r>
              <a:t>Enterprise: Organizations with $500,000+ IT budgets</a:t>
            </a:r>
          </a:p>
          <a:p>
            <a:pPr>
              <a:spcAft>
                <a:spcPts val="600"/>
              </a:spcAft>
              <a:defRPr sz="1600" b="1">
                <a:solidFill>
                  <a:srgbClr val="0071C5"/>
                </a:solidFill>
              </a:defRPr>
            </a:pPr>
            <a:r>
              <a:t>EDUCATION</a:t>
            </a:r>
          </a:p>
          <a:p>
            <a:pPr lvl="1">
              <a:spcAft>
                <a:spcPts val="300"/>
              </a:spcAft>
              <a:defRPr sz="1300"/>
            </a:pPr>
            <a:r>
              <a:t>College-educated professionals and technical specialists</a:t>
            </a:r>
          </a:p>
          <a:p>
            <a:pPr lvl="1">
              <a:spcAft>
                <a:spcPts val="1200"/>
              </a:spcAft>
              <a:defRPr sz="1300"/>
            </a:pPr>
            <a:r>
              <a:t>IT decision-makers and STEM students</a:t>
            </a:r>
          </a:p>
          <a:p>
            <a:pPr>
              <a:spcAft>
                <a:spcPts val="600"/>
              </a:spcAft>
              <a:defRPr sz="1600" b="1">
                <a:solidFill>
                  <a:srgbClr val="0071C5"/>
                </a:solidFill>
              </a:defRPr>
            </a:pPr>
            <a:r>
              <a:t>GENDER</a:t>
            </a:r>
          </a:p>
          <a:p>
            <a:pPr lvl="1">
              <a:spcAft>
                <a:spcPts val="1200"/>
              </a:spcAft>
              <a:defRPr sz="1300"/>
            </a:pPr>
            <a:r>
              <a:t>All genders - Technology professionals across diverse demographics</a:t>
            </a:r>
          </a:p>
          <a:p>
            <a:pPr>
              <a:spcAft>
                <a:spcPts val="600"/>
              </a:spcAft>
              <a:defRPr sz="1600" b="1">
                <a:solidFill>
                  <a:srgbClr val="0071C5"/>
                </a:solidFill>
              </a:defRPr>
            </a:pPr>
            <a:r>
              <a:t>OCCUPATION</a:t>
            </a:r>
          </a:p>
          <a:p>
            <a:pPr lvl="1">
              <a:spcAft>
                <a:spcPts val="300"/>
              </a:spcAft>
              <a:defRPr sz="1300"/>
            </a:pPr>
            <a:r>
              <a:t>Tech professionals, engineers, developers, data scientists</a:t>
            </a:r>
          </a:p>
          <a:p>
            <a:pPr lvl="1">
              <a:defRPr sz="1300"/>
            </a:pPr>
            <a:r>
              <a:t>Content creators, business executives, competitive gamers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